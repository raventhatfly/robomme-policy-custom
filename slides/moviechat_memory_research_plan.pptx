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56" d="100"/>
          <a:sy n="156" d="100"/>
        </p:scale>
        <p:origin x="108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直接连接符 46">
            <a:extLst>
              <a:ext uri="{FF2B5EF4-FFF2-40B4-BE49-F238E27FC236}">
                <ns2:creationId id="{1DB7029A-953A-42F8-98FF-EFB367361715}"/>
              </a:ext>
            </a:extLst>
          </p:cNvPr>
          <p:cNvSpPr>
            <a:spLocks noGrp="1"/>
          </p:cNvSpPr>
          <p:nvPr/>
        </p:nvSpPr>
        <p:spPr>
          <a:xfrm>
            <a:off x="83820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直接连接符 1">
            <a:extLst>
              <a:ext uri="{FF2B5EF4-FFF2-40B4-BE49-F238E27FC236}">
                <ns2:creationId id="{431776BC-DF1B-4EF6-BFA7-0151E9A63262}"/>
              </a:ext>
            </a:extLst>
          </p:cNvPr>
          <p:cNvSpPr>
            <a:spLocks noGrp="1"/>
          </p:cNvSpPr>
          <p:nvPr/>
        </p:nvSpPr>
        <p:spPr>
          <a:xfrm>
            <a:off x="87249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直接连接符 2">
            <a:extLst>
              <a:ext uri="{FF2B5EF4-FFF2-40B4-BE49-F238E27FC236}">
                <ns2:creationId id="{B03B4516-7868-4213-A77E-88B5C3640F7E}"/>
              </a:ext>
            </a:extLst>
          </p:cNvPr>
          <p:cNvSpPr>
            <a:spLocks noGrp="1"/>
          </p:cNvSpPr>
          <p:nvPr/>
        </p:nvSpPr>
        <p:spPr>
          <a:xfrm>
            <a:off x="90678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直接连接符 3">
            <a:extLst>
              <a:ext uri="{FF2B5EF4-FFF2-40B4-BE49-F238E27FC236}">
                <ns2:creationId id="{2C45E35A-0FB3-4572-B8F3-3E777571F625}"/>
              </a:ext>
            </a:extLst>
          </p:cNvPr>
          <p:cNvSpPr>
            <a:spLocks noGrp="1"/>
          </p:cNvSpPr>
          <p:nvPr/>
        </p:nvSpPr>
        <p:spPr>
          <a:xfrm>
            <a:off x="94107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直接连接符 4">
            <a:extLst>
              <a:ext uri="{FF2B5EF4-FFF2-40B4-BE49-F238E27FC236}">
                <ns2:creationId id="{55D5B012-2502-4D92-90A8-D47D0C7B7EC2}"/>
              </a:ext>
            </a:extLst>
          </p:cNvPr>
          <p:cNvSpPr>
            <a:spLocks noGrp="1"/>
          </p:cNvSpPr>
          <p:nvPr/>
        </p:nvSpPr>
        <p:spPr>
          <a:xfrm>
            <a:off x="97536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ns2:creationId id="{C6A3E5AB-B9F4-40C2-85C2-1255CEDF208C}"/>
              </a:ext>
            </a:extLst>
          </p:cNvPr>
          <p:cNvSpPr>
            <a:spLocks noGrp="1"/>
          </p:cNvSpPr>
          <p:nvPr/>
        </p:nvSpPr>
        <p:spPr>
          <a:xfrm>
            <a:off x="100965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ns2:creationId id="{27922DAD-B399-4C08-915F-2820ADC8D7E7}"/>
              </a:ext>
            </a:extLst>
          </p:cNvPr>
          <p:cNvSpPr>
            <a:spLocks noGrp="1"/>
          </p:cNvSpPr>
          <p:nvPr/>
        </p:nvSpPr>
        <p:spPr>
          <a:xfrm>
            <a:off x="104394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ns2:creationId id="{1EFD005D-F5FB-4DDC-B1B0-E1095E4D7B44}"/>
              </a:ext>
            </a:extLst>
          </p:cNvPr>
          <p:cNvSpPr>
            <a:spLocks noGrp="1"/>
          </p:cNvSpPr>
          <p:nvPr/>
        </p:nvSpPr>
        <p:spPr>
          <a:xfrm>
            <a:off x="107823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ns2:creationId id="{96C8A31B-5779-4767-AC76-C2A578895616}"/>
              </a:ext>
            </a:extLst>
          </p:cNvPr>
          <p:cNvSpPr>
            <a:spLocks noGrp="1"/>
          </p:cNvSpPr>
          <p:nvPr/>
        </p:nvSpPr>
        <p:spPr>
          <a:xfrm>
            <a:off x="111252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ns2:creationId id="{D4C61371-E13A-452C-9B36-D5F902F939B2}"/>
              </a:ext>
            </a:extLst>
          </p:cNvPr>
          <p:cNvSpPr>
            <a:spLocks noGrp="1"/>
          </p:cNvSpPr>
          <p:nvPr/>
        </p:nvSpPr>
        <p:spPr>
          <a:xfrm>
            <a:off x="11468100" y="285750"/>
            <a:ext cx="0" cy="2286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ns2:creationId id="{2FC59C1B-AB8D-47C2-B0DF-185FF581D0C9}"/>
              </a:ext>
            </a:extLst>
          </p:cNvPr>
          <p:cNvSpPr>
            <a:spLocks noGrp="1"/>
          </p:cNvSpPr>
          <p:nvPr/>
        </p:nvSpPr>
        <p:spPr>
          <a:xfrm>
            <a:off x="8382000" y="2857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ns2:creationId id="{A093915C-99AE-4C25-A2A3-A2FF77417530}"/>
              </a:ext>
            </a:extLst>
          </p:cNvPr>
          <p:cNvSpPr>
            <a:spLocks noGrp="1"/>
          </p:cNvSpPr>
          <p:nvPr/>
        </p:nvSpPr>
        <p:spPr>
          <a:xfrm>
            <a:off x="8382000" y="6286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ns2:creationId id="{EB86CE26-8F1F-412C-A460-D06079D55D9C}"/>
              </a:ext>
            </a:extLst>
          </p:cNvPr>
          <p:cNvSpPr>
            <a:spLocks noGrp="1"/>
          </p:cNvSpPr>
          <p:nvPr/>
        </p:nvSpPr>
        <p:spPr>
          <a:xfrm>
            <a:off x="8382000" y="9715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ns2:creationId id="{E3124A76-9F93-46FC-B8A5-20464461CB81}"/>
              </a:ext>
            </a:extLst>
          </p:cNvPr>
          <p:cNvSpPr>
            <a:spLocks noGrp="1"/>
          </p:cNvSpPr>
          <p:nvPr/>
        </p:nvSpPr>
        <p:spPr>
          <a:xfrm>
            <a:off x="8382000" y="13144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ns2:creationId id="{F58BC9EB-B0A6-47F2-9203-CAD5BF3FBB05}"/>
              </a:ext>
            </a:extLst>
          </p:cNvPr>
          <p:cNvSpPr>
            <a:spLocks noGrp="1"/>
          </p:cNvSpPr>
          <p:nvPr/>
        </p:nvSpPr>
        <p:spPr>
          <a:xfrm>
            <a:off x="8382000" y="16573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ns2:creationId id="{62278CC2-A68A-471B-A9BA-752B3136DAB6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ns2:creationId id="{B8D5A9EA-875F-418B-B38F-81AB7534736A}"/>
              </a:ext>
            </a:extLst>
          </p:cNvPr>
          <p:cNvSpPr>
            <a:spLocks noGrp="1"/>
          </p:cNvSpPr>
          <p:nvPr/>
        </p:nvSpPr>
        <p:spPr>
          <a:xfrm>
            <a:off x="8382000" y="2343150"/>
            <a:ext cx="3333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>
            <a:extLst>
              <a:ext uri="{FF2B5EF4-FFF2-40B4-BE49-F238E27FC236}">
                <ns2:creationId id="{7B7F8F7A-7FF8-4D17-9AAC-7B9D1031DA23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838200" cy="9906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ns2:creationId id="{755D302A-912A-4EED-B2EB-E77F8189D59C}"/>
              </a:ext>
            </a:extLst>
          </p:cNvPr>
          <p:cNvSpPr>
            <a:spLocks noGrp="1"/>
          </p:cNvSpPr>
          <p:nvPr/>
        </p:nvSpPr>
        <p:spPr>
          <a:xfrm>
            <a:off x="552450" y="552450"/>
            <a:ext cx="8382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D2696E7D-7971-421C-BB97-DFF156120B95}"/>
              </a:ext>
            </a:extLst>
          </p:cNvPr>
          <p:cNvSpPr>
            <a:spLocks noGrp="1"/>
          </p:cNvSpPr>
          <p:nvPr/>
        </p:nvSpPr>
        <p:spPr>
          <a:xfrm>
            <a:off x="552450" y="2476500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225" b="0">
                <a:solidFill>
                  <a:srgbClr val="A51C30"/>
                </a:solidFill>
              </a:defRPr>
            </a:pPr>
            <a:r>
              <a:rPr sz="3225" b="0">
                <a:solidFill>
                  <a:srgbClr val="A51C30"/>
                </a:solidFill>
              </a:rPr>
              <a:t>Harvard Robotics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B8B2DB70-5E9A-4DDB-BB1C-C6C4E8F735D3}"/>
              </a:ext>
            </a:extLst>
          </p:cNvPr>
          <p:cNvSpPr>
            <a:spLocks noGrp="1"/>
          </p:cNvSpPr>
          <p:nvPr/>
        </p:nvSpPr>
        <p:spPr>
          <a:xfrm>
            <a:off x="552450" y="3152775"/>
            <a:ext cx="666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MovieChat Memory for Long-Horizon Robot Policies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DA62554C-698E-43DC-9AD6-E62F3B15B1BC}"/>
              </a:ext>
            </a:extLst>
          </p:cNvPr>
          <p:cNvSpPr>
            <a:spLocks noGrp="1"/>
          </p:cNvSpPr>
          <p:nvPr/>
        </p:nvSpPr>
        <p:spPr>
          <a:xfrm>
            <a:off x="552450" y="3762375"/>
            <a:ext cx="647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6B68"/>
                </a:solidFill>
              </a:defRPr>
            </a:pPr>
            <a:r>
              <a:rPr sz="1350" b="0">
                <a:solidFill>
                  <a:srgbClr val="6B6B68"/>
                </a:solidFill>
              </a:rPr>
              <a:t>Can long-video memory compression transfer from QA to robot control?</a:t>
            </a:r>
          </a:p>
        </p:txBody>
      </p:sp>
      <p:sp>
        <p:nvSpPr>
          <p:cNvPr id="23" name="直接连接符 22">
            <a:extLst>
              <a:ext uri="{FF2B5EF4-FFF2-40B4-BE49-F238E27FC236}">
                <ns2:creationId id="{662C79DA-C645-416F-8F64-87FAE96BA963}"/>
              </a:ext>
            </a:extLst>
          </p:cNvPr>
          <p:cNvSpPr>
            <a:spLocks noGrp="1"/>
          </p:cNvSpPr>
          <p:nvPr/>
        </p:nvSpPr>
        <p:spPr>
          <a:xfrm>
            <a:off x="552450" y="4362450"/>
            <a:ext cx="10477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ns2:creationId id="{12E860C3-4A3B-440C-A026-CD638CE51AB8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Wenfei Yu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D5E64780-1593-4161-9486-D456F48AC16F}"/>
              </a:ext>
            </a:extLst>
          </p:cNvPr>
          <p:cNvSpPr>
            <a:spLocks noGrp="1"/>
          </p:cNvSpPr>
          <p:nvPr/>
        </p:nvSpPr>
        <p:spPr>
          <a:xfrm>
            <a:off x="552450" y="4895850"/>
            <a:ext cx="4000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6B6B68"/>
                </a:solidFill>
              </a:defRPr>
            </a:pPr>
            <a:r>
              <a:rPr sz="1050" b="0">
                <a:solidFill>
                  <a:srgbClr val="6B6B68"/>
                </a:solidFill>
              </a:rPr>
              <a:t>Harvard Robotics  ·  July 2026</a:t>
            </a:r>
          </a:p>
        </p:txBody>
      </p:sp>
      <p:sp>
        <p:nvSpPr>
          <p:cNvPr id="26" name="直接连接符 25">
            <a:extLst>
              <a:ext uri="{FF2B5EF4-FFF2-40B4-BE49-F238E27FC236}">
                <ns2:creationId id="{F222A613-7C96-4DEE-A467-92DC0171C99E}"/>
              </a:ext>
            </a:extLst>
          </p:cNvPr>
          <p:cNvSpPr>
            <a:spLocks noGrp="1"/>
          </p:cNvSpPr>
          <p:nvPr/>
        </p:nvSpPr>
        <p:spPr>
          <a:xfrm>
            <a:off x="8096250" y="43338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椭圆 26">
            <a:extLst>
              <a:ext uri="{FF2B5EF4-FFF2-40B4-BE49-F238E27FC236}">
                <ns2:creationId id="{4324C663-7D0A-4EBF-A2B0-91983D87FBA1}"/>
              </a:ext>
            </a:extLst>
          </p:cNvPr>
          <p:cNvSpPr>
            <a:spLocks noGrp="1"/>
          </p:cNvSpPr>
          <p:nvPr/>
        </p:nvSpPr>
        <p:spPr>
          <a:xfrm>
            <a:off x="8886825" y="46101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ns2:creationId id="{83815225-F5A2-4D15-B588-D3BD5BCE7B66}"/>
              </a:ext>
            </a:extLst>
          </p:cNvPr>
          <p:cNvSpPr>
            <a:spLocks noGrp="1"/>
          </p:cNvSpPr>
          <p:nvPr/>
        </p:nvSpPr>
        <p:spPr>
          <a:xfrm>
            <a:off x="8496300" y="41624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椭圆 28">
            <a:extLst>
              <a:ext uri="{FF2B5EF4-FFF2-40B4-BE49-F238E27FC236}">
                <ns2:creationId id="{46319E22-3F59-42B7-9A9D-97FCA00A2E78}"/>
              </a:ext>
            </a:extLst>
          </p:cNvPr>
          <p:cNvSpPr>
            <a:spLocks noGrp="1"/>
          </p:cNvSpPr>
          <p:nvPr/>
        </p:nvSpPr>
        <p:spPr>
          <a:xfrm>
            <a:off x="9286875" y="44386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ns2:creationId id="{D7E027BA-F75E-4F61-8495-0561E0838311}"/>
              </a:ext>
            </a:extLst>
          </p:cNvPr>
          <p:cNvSpPr>
            <a:spLocks noGrp="1"/>
          </p:cNvSpPr>
          <p:nvPr/>
        </p:nvSpPr>
        <p:spPr>
          <a:xfrm>
            <a:off x="8896350" y="39909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椭圆 30">
            <a:extLst>
              <a:ext uri="{FF2B5EF4-FFF2-40B4-BE49-F238E27FC236}">
                <ns2:creationId id="{5EAB43ED-681F-433B-BA1B-8DDB6BA21722}"/>
              </a:ext>
            </a:extLst>
          </p:cNvPr>
          <p:cNvSpPr>
            <a:spLocks noGrp="1"/>
          </p:cNvSpPr>
          <p:nvPr/>
        </p:nvSpPr>
        <p:spPr>
          <a:xfrm>
            <a:off x="9686925" y="42672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ns2:creationId id="{C06B9364-C8C1-4554-97C9-F94E40130CB0}"/>
              </a:ext>
            </a:extLst>
          </p:cNvPr>
          <p:cNvSpPr>
            <a:spLocks noGrp="1"/>
          </p:cNvSpPr>
          <p:nvPr/>
        </p:nvSpPr>
        <p:spPr>
          <a:xfrm>
            <a:off x="9296400" y="38195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椭圆 32">
            <a:extLst>
              <a:ext uri="{FF2B5EF4-FFF2-40B4-BE49-F238E27FC236}">
                <ns2:creationId id="{350760F9-43DF-4AEE-A4CB-20A7FA71E943}"/>
              </a:ext>
            </a:extLst>
          </p:cNvPr>
          <p:cNvSpPr>
            <a:spLocks noGrp="1"/>
          </p:cNvSpPr>
          <p:nvPr/>
        </p:nvSpPr>
        <p:spPr>
          <a:xfrm>
            <a:off x="10086975" y="40957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ns2:creationId id="{BDA8C4EE-97F0-43F0-9739-B17B2C68365C}"/>
              </a:ext>
            </a:extLst>
          </p:cNvPr>
          <p:cNvSpPr>
            <a:spLocks noGrp="1"/>
          </p:cNvSpPr>
          <p:nvPr/>
        </p:nvSpPr>
        <p:spPr>
          <a:xfrm>
            <a:off x="9696450" y="36480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椭圆 34">
            <a:extLst>
              <a:ext uri="{FF2B5EF4-FFF2-40B4-BE49-F238E27FC236}">
                <ns2:creationId id="{4C343074-88E0-4FEF-9BEB-E75444B88D22}"/>
              </a:ext>
            </a:extLst>
          </p:cNvPr>
          <p:cNvSpPr>
            <a:spLocks noGrp="1"/>
          </p:cNvSpPr>
          <p:nvPr/>
        </p:nvSpPr>
        <p:spPr>
          <a:xfrm>
            <a:off x="10487025" y="39243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ns2:creationId id="{0725104F-5BBA-4532-AE1B-4BE453C32214}"/>
              </a:ext>
            </a:extLst>
          </p:cNvPr>
          <p:cNvSpPr>
            <a:spLocks noGrp="1"/>
          </p:cNvSpPr>
          <p:nvPr/>
        </p:nvSpPr>
        <p:spPr>
          <a:xfrm>
            <a:off x="10096500" y="347662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椭圆 36">
            <a:extLst>
              <a:ext uri="{FF2B5EF4-FFF2-40B4-BE49-F238E27FC236}">
                <ns2:creationId id="{E36A66AF-4300-447E-B6C1-44C8CD80DC58}"/>
              </a:ext>
            </a:extLst>
          </p:cNvPr>
          <p:cNvSpPr>
            <a:spLocks noGrp="1"/>
          </p:cNvSpPr>
          <p:nvPr/>
        </p:nvSpPr>
        <p:spPr>
          <a:xfrm>
            <a:off x="10887075" y="3752850"/>
            <a:ext cx="95250" cy="952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ns2:creationId id="{B52F3165-91E4-47EC-8B99-36C53F9CECB4}"/>
              </a:ext>
            </a:extLst>
          </p:cNvPr>
          <p:cNvSpPr>
            <a:spLocks noGrp="1"/>
          </p:cNvSpPr>
          <p:nvPr/>
        </p:nvSpPr>
        <p:spPr>
          <a:xfrm>
            <a:off x="10496550" y="3305175"/>
            <a:ext cx="838200" cy="323850"/>
          </a:xfrm>
          <a:prstGeom prst="line">
            <a:avLst/>
          </a:prstGeom>
          <a:noFill/>
          <a:ln w="19050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椭圆 38">
            <a:extLst>
              <a:ext uri="{FF2B5EF4-FFF2-40B4-BE49-F238E27FC236}">
                <ns2:creationId id="{58430C23-E387-4AF7-A7FB-E05C5ED0CC06}"/>
              </a:ext>
            </a:extLst>
          </p:cNvPr>
          <p:cNvSpPr>
            <a:spLocks noGrp="1"/>
          </p:cNvSpPr>
          <p:nvPr/>
        </p:nvSpPr>
        <p:spPr>
          <a:xfrm>
            <a:off x="11287125" y="3581400"/>
            <a:ext cx="95250" cy="952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ns2:creationId id="{BA49E4E3-C4F2-431A-833E-B1947FF300D0}"/>
              </a:ext>
            </a:extLst>
          </p:cNvPr>
          <p:cNvSpPr>
            <a:spLocks noGrp="1"/>
          </p:cNvSpPr>
          <p:nvPr/>
        </p:nvSpPr>
        <p:spPr>
          <a:xfrm>
            <a:off x="7762875" y="5143500"/>
            <a:ext cx="2667000" cy="762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>
            <a:extLst>
              <a:ext uri="{FF2B5EF4-FFF2-40B4-BE49-F238E27FC236}">
                <ns2:creationId id="{66B90DF9-F206-4F66-8EFF-37215DE6FE3C}"/>
              </a:ext>
            </a:extLst>
          </p:cNvPr>
          <p:cNvSpPr>
            <a:spLocks noGrp="1"/>
          </p:cNvSpPr>
          <p:nvPr/>
        </p:nvSpPr>
        <p:spPr>
          <a:xfrm>
            <a:off x="8667750" y="5476875"/>
            <a:ext cx="2095500" cy="762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ns2:creationId id="{4130969C-5BA9-4571-8D74-2C0E8C53184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ns2:creationId id="{87839F09-1783-4C6F-A15B-045ACAA483E4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44" name="矩形 43">
            <a:extLst>
              <a:ext uri="{FF2B5EF4-FFF2-40B4-BE49-F238E27FC236}">
                <ns2:creationId id="{D9173605-677A-4143-91E2-38D81A9568EF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45" name="矩形 44">
            <a:extLst>
              <a:ext uri="{FF2B5EF4-FFF2-40B4-BE49-F238E27FC236}">
                <ns2:creationId id="{E117F71C-BBDE-4157-800A-43AB845B201B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矩形 45">
            <a:extLst>
              <a:ext uri="{FF2B5EF4-FFF2-40B4-BE49-F238E27FC236}">
                <ns2:creationId id="{3378E9EE-EF4C-4956-9D77-356DB148A0E7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ns3:creationId val="963224873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>
            <a:extLst>
              <a:ext uri="{FF2B5EF4-FFF2-40B4-BE49-F238E27FC236}">
                <ns2:creationId id="{407D45C5-FF47-4F02-9A79-1A8F307E252D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6005ECFE-0175-49BC-A639-8734B949E28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Research Overview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64D29A72-8119-4442-BDCD-D4EA6370EEF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8A95DA2C-1FE4-4ACB-8399-42DD743E1312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D4F034D7-2606-45AE-B768-5F9428F1873F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9F727331-78E8-4D71-8556-19EC6831F247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CE56FD2C-C708-4104-BEDF-D3E5ECA6F66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直接连接符 7">
            <a:extLst>
              <a:ext uri="{FF2B5EF4-FFF2-40B4-BE49-F238E27FC236}">
                <ns2:creationId id="{9CF50B87-787D-49AD-90AE-312CCCB7CA51}"/>
              </a:ext>
            </a:extLst>
          </p:cNvPr>
          <p:cNvSpPr>
            <a:spLocks noGrp="1"/>
          </p:cNvSpPr>
          <p:nvPr/>
        </p:nvSpPr>
        <p:spPr>
          <a:xfrm>
            <a:off x="7239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ns2:creationId id="{AF0A0101-C1DC-4151-A28F-E2856BA90C59}"/>
              </a:ext>
            </a:extLst>
          </p:cNvPr>
          <p:cNvSpPr>
            <a:spLocks noGrp="1"/>
          </p:cNvSpPr>
          <p:nvPr/>
        </p:nvSpPr>
        <p:spPr>
          <a:xfrm>
            <a:off x="7620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ns2:creationId id="{F928B6CE-C12B-4A1C-B559-4AEF3E623D1B}"/>
              </a:ext>
            </a:extLst>
          </p:cNvPr>
          <p:cNvSpPr>
            <a:spLocks noGrp="1"/>
          </p:cNvSpPr>
          <p:nvPr/>
        </p:nvSpPr>
        <p:spPr>
          <a:xfrm>
            <a:off x="8001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ns2:creationId id="{52105115-54A1-46EA-B27F-C32F26D2F22A}"/>
              </a:ext>
            </a:extLst>
          </p:cNvPr>
          <p:cNvSpPr>
            <a:spLocks noGrp="1"/>
          </p:cNvSpPr>
          <p:nvPr/>
        </p:nvSpPr>
        <p:spPr>
          <a:xfrm>
            <a:off x="8382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ns2:creationId id="{1268EC7D-DDCB-49BF-B9DD-4BBB55804B19}"/>
              </a:ext>
            </a:extLst>
          </p:cNvPr>
          <p:cNvSpPr>
            <a:spLocks noGrp="1"/>
          </p:cNvSpPr>
          <p:nvPr/>
        </p:nvSpPr>
        <p:spPr>
          <a:xfrm>
            <a:off x="8763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ns2:creationId id="{63496D4C-B83A-45DC-A7BF-63C3B6B4C8F6}"/>
              </a:ext>
            </a:extLst>
          </p:cNvPr>
          <p:cNvSpPr>
            <a:spLocks noGrp="1"/>
          </p:cNvSpPr>
          <p:nvPr/>
        </p:nvSpPr>
        <p:spPr>
          <a:xfrm>
            <a:off x="9144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ns2:creationId id="{04F171FC-2BB6-4485-8ADD-D7A4F8F14265}"/>
              </a:ext>
            </a:extLst>
          </p:cNvPr>
          <p:cNvSpPr>
            <a:spLocks noGrp="1"/>
          </p:cNvSpPr>
          <p:nvPr/>
        </p:nvSpPr>
        <p:spPr>
          <a:xfrm>
            <a:off x="9525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ns2:creationId id="{F18610EF-52F6-42FC-AF7A-58E2CE929A26}"/>
              </a:ext>
            </a:extLst>
          </p:cNvPr>
          <p:cNvSpPr>
            <a:spLocks noGrp="1"/>
          </p:cNvSpPr>
          <p:nvPr/>
        </p:nvSpPr>
        <p:spPr>
          <a:xfrm>
            <a:off x="9906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ns2:creationId id="{B3EBB0A8-F77B-449F-987B-88C5E74DAA0D}"/>
              </a:ext>
            </a:extLst>
          </p:cNvPr>
          <p:cNvSpPr>
            <a:spLocks noGrp="1"/>
          </p:cNvSpPr>
          <p:nvPr/>
        </p:nvSpPr>
        <p:spPr>
          <a:xfrm>
            <a:off x="10287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ns2:creationId id="{F9DD813B-84E2-463A-973B-86984B4D4A5E}"/>
              </a:ext>
            </a:extLst>
          </p:cNvPr>
          <p:cNvSpPr>
            <a:spLocks noGrp="1"/>
          </p:cNvSpPr>
          <p:nvPr/>
        </p:nvSpPr>
        <p:spPr>
          <a:xfrm>
            <a:off x="10668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ns2:creationId id="{9B5C023B-0F50-4B4F-BEC9-7C665C617407}"/>
              </a:ext>
            </a:extLst>
          </p:cNvPr>
          <p:cNvSpPr>
            <a:spLocks noGrp="1"/>
          </p:cNvSpPr>
          <p:nvPr/>
        </p:nvSpPr>
        <p:spPr>
          <a:xfrm>
            <a:off x="11049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ns2:creationId id="{283FBEA2-4816-4951-A142-639FDE2F2C76}"/>
              </a:ext>
            </a:extLst>
          </p:cNvPr>
          <p:cNvSpPr>
            <a:spLocks noGrp="1"/>
          </p:cNvSpPr>
          <p:nvPr/>
        </p:nvSpPr>
        <p:spPr>
          <a:xfrm>
            <a:off x="11430000" y="89535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ns2:creationId id="{9617DEFE-E937-4E44-B593-0A8ECD41BEDA}"/>
              </a:ext>
            </a:extLst>
          </p:cNvPr>
          <p:cNvSpPr>
            <a:spLocks noGrp="1"/>
          </p:cNvSpPr>
          <p:nvPr/>
        </p:nvSpPr>
        <p:spPr>
          <a:xfrm>
            <a:off x="7239000" y="895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ns2:creationId id="{B6141325-2498-43D5-BEE5-63A0D790D269}"/>
              </a:ext>
            </a:extLst>
          </p:cNvPr>
          <p:cNvSpPr>
            <a:spLocks noGrp="1"/>
          </p:cNvSpPr>
          <p:nvPr/>
        </p:nvSpPr>
        <p:spPr>
          <a:xfrm>
            <a:off x="7239000" y="1276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ns2:creationId id="{C817F6D6-1D87-4FDE-BE0D-9621DD348CE8}"/>
              </a:ext>
            </a:extLst>
          </p:cNvPr>
          <p:cNvSpPr>
            <a:spLocks noGrp="1"/>
          </p:cNvSpPr>
          <p:nvPr/>
        </p:nvSpPr>
        <p:spPr>
          <a:xfrm>
            <a:off x="7239000" y="1657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ns2:creationId id="{A6622021-044E-4AE4-B57B-E6D3772E5B4A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ns2:creationId id="{1769654E-E70F-4648-A83E-0D33E162BB78}"/>
              </a:ext>
            </a:extLst>
          </p:cNvPr>
          <p:cNvSpPr>
            <a:spLocks noGrp="1"/>
          </p:cNvSpPr>
          <p:nvPr/>
        </p:nvSpPr>
        <p:spPr>
          <a:xfrm>
            <a:off x="7239000" y="2419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ns2:creationId id="{80D98228-ECEC-49A3-A2B5-F2E2217F3519}"/>
              </a:ext>
            </a:extLst>
          </p:cNvPr>
          <p:cNvSpPr>
            <a:spLocks noGrp="1"/>
          </p:cNvSpPr>
          <p:nvPr/>
        </p:nvSpPr>
        <p:spPr>
          <a:xfrm>
            <a:off x="7239000" y="2800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ns2:creationId id="{8FB3572B-3500-4278-AC6E-77C81F27F05F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ns2:creationId id="{B58ADCFE-AF78-4967-B05E-189735A71BB9}"/>
              </a:ext>
            </a:extLst>
          </p:cNvPr>
          <p:cNvSpPr>
            <a:spLocks noGrp="1"/>
          </p:cNvSpPr>
          <p:nvPr/>
        </p:nvSpPr>
        <p:spPr>
          <a:xfrm>
            <a:off x="7239000" y="3562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ns2:creationId id="{9D49F0E7-40D1-4124-9FEF-05D1F3C83CC9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ns2:creationId id="{72F483DC-6904-4B17-837C-A4ABF2DF4971}"/>
              </a:ext>
            </a:extLst>
          </p:cNvPr>
          <p:cNvSpPr>
            <a:spLocks noGrp="1"/>
          </p:cNvSpPr>
          <p:nvPr/>
        </p:nvSpPr>
        <p:spPr>
          <a:xfrm>
            <a:off x="7239000" y="4324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ns2:creationId id="{89639C39-BEAA-4964-9F8D-64AB966FAFFE}"/>
              </a:ext>
            </a:extLst>
          </p:cNvPr>
          <p:cNvSpPr>
            <a:spLocks noGrp="1"/>
          </p:cNvSpPr>
          <p:nvPr/>
        </p:nvSpPr>
        <p:spPr>
          <a:xfrm>
            <a:off x="7239000" y="4705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ns2:creationId id="{A94FA790-4FE9-4747-B207-C6D63EF06310}"/>
              </a:ext>
            </a:extLst>
          </p:cNvPr>
          <p:cNvSpPr>
            <a:spLocks noGrp="1"/>
          </p:cNvSpPr>
          <p:nvPr/>
        </p:nvSpPr>
        <p:spPr>
          <a:xfrm>
            <a:off x="7239000" y="5086350"/>
            <a:ext cx="4286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>
            <a:extLst>
              <a:ext uri="{FF2B5EF4-FFF2-40B4-BE49-F238E27FC236}">
                <ns2:creationId id="{00F47E20-0EC5-48A7-8CC1-1645BBB27E5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矩形 32">
            <a:extLst>
              <a:ext uri="{FF2B5EF4-FFF2-40B4-BE49-F238E27FC236}">
                <ns2:creationId id="{EDE1154C-9C93-4AA2-8F63-264BD38E9012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4" name="矩形 33">
            <a:extLst>
              <a:ext uri="{FF2B5EF4-FFF2-40B4-BE49-F238E27FC236}">
                <ns2:creationId id="{FA83D943-B625-4472-8B4D-185924123CB7}"/>
              </a:ext>
            </a:extLst>
          </p:cNvPr>
          <p:cNvSpPr>
            <a:spLocks noGrp="1"/>
          </p:cNvSpPr>
          <p:nvPr/>
        </p:nvSpPr>
        <p:spPr>
          <a:xfrm>
            <a:off x="1200150" y="10668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Motivation &amp; Research Question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C99A604E-4144-4FB5-B982-DA2EEBCDE95C}"/>
              </a:ext>
            </a:extLst>
          </p:cNvPr>
          <p:cNvSpPr>
            <a:spLocks noGrp="1"/>
          </p:cNvSpPr>
          <p:nvPr/>
        </p:nvSpPr>
        <p:spPr>
          <a:xfrm>
            <a:off x="1200150" y="13430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Why long video memory may matter for RoboMME tasks</a:t>
            </a:r>
          </a:p>
        </p:txBody>
      </p:sp>
      <p:sp>
        <p:nvSpPr>
          <p:cNvPr id="36" name="直接连接符 35">
            <a:extLst>
              <a:ext uri="{FF2B5EF4-FFF2-40B4-BE49-F238E27FC236}">
                <ns2:creationId id="{8DE85BD5-1E83-41D7-AC66-7A040B981136}"/>
              </a:ext>
            </a:extLst>
          </p:cNvPr>
          <p:cNvSpPr>
            <a:spLocks noGrp="1"/>
          </p:cNvSpPr>
          <p:nvPr/>
        </p:nvSpPr>
        <p:spPr>
          <a:xfrm>
            <a:off x="1104900" y="16954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矩形 36">
            <a:extLst>
              <a:ext uri="{FF2B5EF4-FFF2-40B4-BE49-F238E27FC236}">
                <ns2:creationId id="{ED35FFCA-65F0-4CC8-AE15-09D73972FBDD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>
            <a:extLst>
              <a:ext uri="{FF2B5EF4-FFF2-40B4-BE49-F238E27FC236}">
                <ns2:creationId id="{1A491FC6-2B1E-40B3-AEDD-8569D9DEB779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9" name="矩形 38">
            <a:extLst>
              <a:ext uri="{FF2B5EF4-FFF2-40B4-BE49-F238E27FC236}">
                <ns2:creationId id="{E67E47BA-2A43-47A2-B985-544EEB94DD2C}"/>
              </a:ext>
            </a:extLst>
          </p:cNvPr>
          <p:cNvSpPr>
            <a:spLocks noGrp="1"/>
          </p:cNvSpPr>
          <p:nvPr/>
        </p:nvSpPr>
        <p:spPr>
          <a:xfrm>
            <a:off x="1200150" y="18859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Prior Results &amp; Gap</a:t>
            </a:r>
          </a:p>
        </p:txBody>
      </p:sp>
      <p:sp>
        <p:nvSpPr>
          <p:cNvPr id="40" name="矩形 39">
            <a:extLst>
              <a:ext uri="{FF2B5EF4-FFF2-40B4-BE49-F238E27FC236}">
                <ns2:creationId id="{3FABA5C7-9F6B-4371-9A6B-CA298DADED25}"/>
              </a:ext>
            </a:extLst>
          </p:cNvPr>
          <p:cNvSpPr>
            <a:spLocks noGrp="1"/>
          </p:cNvSpPr>
          <p:nvPr/>
        </p:nvSpPr>
        <p:spPr>
          <a:xfrm>
            <a:off x="1200150" y="21621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MovieChat works for QA; control may require a different interface</a:t>
            </a:r>
          </a:p>
        </p:txBody>
      </p:sp>
      <p:sp>
        <p:nvSpPr>
          <p:cNvPr id="41" name="直接连接符 40">
            <a:extLst>
              <a:ext uri="{FF2B5EF4-FFF2-40B4-BE49-F238E27FC236}">
                <ns2:creationId id="{8323F8D8-B344-4F85-9F73-5CA533B8736A}"/>
              </a:ext>
            </a:extLst>
          </p:cNvPr>
          <p:cNvSpPr>
            <a:spLocks noGrp="1"/>
          </p:cNvSpPr>
          <p:nvPr/>
        </p:nvSpPr>
        <p:spPr>
          <a:xfrm>
            <a:off x="1104900" y="251460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矩形 41">
            <a:extLst>
              <a:ext uri="{FF2B5EF4-FFF2-40B4-BE49-F238E27FC236}">
                <ns2:creationId id="{9F0AA638-DDE1-4110-9571-8B42C73C9828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ns2:creationId id="{3BEF9266-8772-4C9B-92FB-403888F0F12F}"/>
              </a:ext>
            </a:extLst>
          </p:cNvPr>
          <p:cNvSpPr>
            <a:spLocks noGrp="1"/>
          </p:cNvSpPr>
          <p:nvPr/>
        </p:nvSpPr>
        <p:spPr>
          <a:xfrm>
            <a:off x="552450" y="27051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4" name="矩形 43">
            <a:extLst>
              <a:ext uri="{FF2B5EF4-FFF2-40B4-BE49-F238E27FC236}">
                <ns2:creationId id="{63952C3B-6955-4735-9602-28AE216AFE6E}"/>
              </a:ext>
            </a:extLst>
          </p:cNvPr>
          <p:cNvSpPr>
            <a:spLocks noGrp="1"/>
          </p:cNvSpPr>
          <p:nvPr/>
        </p:nvSpPr>
        <p:spPr>
          <a:xfrm>
            <a:off x="1200150" y="27051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Method &amp; System Design</a:t>
            </a:r>
          </a:p>
        </p:txBody>
      </p:sp>
      <p:sp>
        <p:nvSpPr>
          <p:cNvPr id="45" name="矩形 44">
            <a:extLst>
              <a:ext uri="{FF2B5EF4-FFF2-40B4-BE49-F238E27FC236}">
                <ns2:creationId id="{EECD68E5-3307-4EAC-92F4-14F3FF429663}"/>
              </a:ext>
            </a:extLst>
          </p:cNvPr>
          <p:cNvSpPr>
            <a:spLocks noGrp="1"/>
          </p:cNvSpPr>
          <p:nvPr/>
        </p:nvSpPr>
        <p:spPr>
          <a:xfrm>
            <a:off x="1200150" y="29813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OpenPI/pi0.5 with MovieChat, recurrent, and baseline variants</a:t>
            </a:r>
          </a:p>
        </p:txBody>
      </p:sp>
      <p:sp>
        <p:nvSpPr>
          <p:cNvPr id="46" name="直接连接符 45">
            <a:extLst>
              <a:ext uri="{FF2B5EF4-FFF2-40B4-BE49-F238E27FC236}">
                <ns2:creationId id="{2B17C4A9-7B40-4C08-B825-2CDEF9F77332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矩形 46">
            <a:extLst>
              <a:ext uri="{FF2B5EF4-FFF2-40B4-BE49-F238E27FC236}">
                <ns2:creationId id="{3C0F8536-48FC-4D9C-ABCD-23B83B98E73F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矩形 47">
            <a:extLst>
              <a:ext uri="{FF2B5EF4-FFF2-40B4-BE49-F238E27FC236}">
                <ns2:creationId id="{A82063C2-9F1C-4650-A5C6-C6A535223DB7}"/>
              </a:ext>
            </a:extLst>
          </p:cNvPr>
          <p:cNvSpPr>
            <a:spLocks noGrp="1"/>
          </p:cNvSpPr>
          <p:nvPr/>
        </p:nvSpPr>
        <p:spPr>
          <a:xfrm>
            <a:off x="552450" y="352425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9" name="矩形 48">
            <a:extLst>
              <a:ext uri="{FF2B5EF4-FFF2-40B4-BE49-F238E27FC236}">
                <ns2:creationId id="{0BD595AC-972C-4EC2-BE95-E3AEAFAB4B05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Experiments &amp; Results</a:t>
            </a:r>
          </a:p>
        </p:txBody>
      </p:sp>
      <p:sp>
        <p:nvSpPr>
          <p:cNvPr id="50" name="矩形 49">
            <a:extLst>
              <a:ext uri="{FF2B5EF4-FFF2-40B4-BE49-F238E27FC236}">
                <ns2:creationId id="{93A13F66-C42B-48A0-9457-FD45ACEA513E}"/>
              </a:ext>
            </a:extLst>
          </p:cNvPr>
          <p:cNvSpPr>
            <a:spLocks noGrp="1"/>
          </p:cNvSpPr>
          <p:nvPr/>
        </p:nvSpPr>
        <p:spPr>
          <a:xfrm>
            <a:off x="1200150" y="380047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Initial results show modulation converges but underperforms</a:t>
            </a:r>
          </a:p>
        </p:txBody>
      </p:sp>
      <p:sp>
        <p:nvSpPr>
          <p:cNvPr id="51" name="直接连接符 50">
            <a:extLst>
              <a:ext uri="{FF2B5EF4-FFF2-40B4-BE49-F238E27FC236}">
                <ns2:creationId id="{3D5F402E-A95E-4066-BDF6-B36988E93DEB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ns2:creationId id="{5B643BF6-747E-4F62-A997-432845A1BAA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57200" cy="4572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矩形 52">
            <a:extLst>
              <a:ext uri="{FF2B5EF4-FFF2-40B4-BE49-F238E27FC236}">
                <ns2:creationId id="{BBABD096-FEE6-4BE1-A834-5E5070CEE5C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4" name="矩形 53">
            <a:extLst>
              <a:ext uri="{FF2B5EF4-FFF2-40B4-BE49-F238E27FC236}">
                <ns2:creationId id="{E1FEF087-727B-4E42-B2AC-7DE780A18642}"/>
              </a:ext>
            </a:extLst>
          </p:cNvPr>
          <p:cNvSpPr>
            <a:spLocks noGrp="1"/>
          </p:cNvSpPr>
          <p:nvPr/>
        </p:nvSpPr>
        <p:spPr>
          <a:xfrm>
            <a:off x="1200150" y="4343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Next Steps</a:t>
            </a:r>
          </a:p>
        </p:txBody>
      </p:sp>
      <p:sp>
        <p:nvSpPr>
          <p:cNvPr id="55" name="矩形 54">
            <a:extLst>
              <a:ext uri="{FF2B5EF4-FFF2-40B4-BE49-F238E27FC236}">
                <ns2:creationId id="{0DEA096D-C52E-4B22-827D-FAE825C79E44}"/>
              </a:ext>
            </a:extLst>
          </p:cNvPr>
          <p:cNvSpPr>
            <a:spLocks noGrp="1"/>
          </p:cNvSpPr>
          <p:nvPr/>
        </p:nvSpPr>
        <p:spPr>
          <a:xfrm>
            <a:off x="1200150" y="4619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Test MovieChat memory as context tokens and inspect rollout failures</a:t>
            </a:r>
          </a:p>
        </p:txBody>
      </p:sp>
      <p:sp>
        <p:nvSpPr>
          <p:cNvPr id="56" name="直接连接符 55">
            <a:extLst>
              <a:ext uri="{FF2B5EF4-FFF2-40B4-BE49-F238E27FC236}">
                <ns2:creationId id="{77D4C46D-7022-4D8E-82B9-CD2D1D7F2843}"/>
              </a:ext>
            </a:extLst>
          </p:cNvPr>
          <p:cNvSpPr>
            <a:spLocks noGrp="1"/>
          </p:cNvSpPr>
          <p:nvPr/>
        </p:nvSpPr>
        <p:spPr>
          <a:xfrm>
            <a:off x="1104900" y="4972050"/>
            <a:ext cx="48577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直接连接符 56">
            <a:extLst>
              <a:ext uri="{FF2B5EF4-FFF2-40B4-BE49-F238E27FC236}">
                <ns2:creationId id="{7DA1F2A8-33A2-4225-8828-5AC6E4E9B2DD}"/>
              </a:ext>
            </a:extLst>
          </p:cNvPr>
          <p:cNvSpPr>
            <a:spLocks noGrp="1"/>
          </p:cNvSpPr>
          <p:nvPr/>
        </p:nvSpPr>
        <p:spPr>
          <a:xfrm>
            <a:off x="7581900" y="4429125"/>
            <a:ext cx="590550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直接连接符 57">
            <a:extLst>
              <a:ext uri="{FF2B5EF4-FFF2-40B4-BE49-F238E27FC236}">
                <ns2:creationId id="{805E19F9-4894-4FFC-9AFA-B011F75CED14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571500" cy="7334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直接连接符 58">
            <a:extLst>
              <a:ext uri="{FF2B5EF4-FFF2-40B4-BE49-F238E27FC236}">
                <ns2:creationId id="{2EBA8426-A4EC-4C85-987C-20CBC7CD619D}"/>
              </a:ext>
            </a:extLst>
          </p:cNvPr>
          <p:cNvSpPr>
            <a:spLocks noGrp="1"/>
          </p:cNvSpPr>
          <p:nvPr/>
        </p:nvSpPr>
        <p:spPr>
          <a:xfrm>
            <a:off x="8743950" y="4362450"/>
            <a:ext cx="542925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直接连接符 59">
            <a:extLst>
              <a:ext uri="{FF2B5EF4-FFF2-40B4-BE49-F238E27FC236}">
                <ns2:creationId id="{25F552F3-12F3-4CDB-B7D2-92E47B806278}"/>
              </a:ext>
            </a:extLst>
          </p:cNvPr>
          <p:cNvSpPr>
            <a:spLocks noGrp="1"/>
          </p:cNvSpPr>
          <p:nvPr/>
        </p:nvSpPr>
        <p:spPr>
          <a:xfrm>
            <a:off x="9286875" y="2952750"/>
            <a:ext cx="590550" cy="7715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直接连接符 60">
            <a:extLst>
              <a:ext uri="{FF2B5EF4-FFF2-40B4-BE49-F238E27FC236}">
                <ns2:creationId id="{A58A15EA-BC9A-4832-859C-F01FA67A1A1F}"/>
              </a:ext>
            </a:extLst>
          </p:cNvPr>
          <p:cNvSpPr>
            <a:spLocks noGrp="1"/>
          </p:cNvSpPr>
          <p:nvPr/>
        </p:nvSpPr>
        <p:spPr>
          <a:xfrm>
            <a:off x="9877425" y="3724275"/>
            <a:ext cx="733425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直接连接符 61">
            <a:extLst>
              <a:ext uri="{FF2B5EF4-FFF2-40B4-BE49-F238E27FC236}">
                <ns2:creationId id="{0F26F78E-3DB6-4C44-8834-79931B8DB316}"/>
              </a:ext>
            </a:extLst>
          </p:cNvPr>
          <p:cNvSpPr>
            <a:spLocks noGrp="1"/>
          </p:cNvSpPr>
          <p:nvPr/>
        </p:nvSpPr>
        <p:spPr>
          <a:xfrm>
            <a:off x="10610850" y="2390775"/>
            <a:ext cx="581025" cy="89535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椭圆 62">
            <a:extLst>
              <a:ext uri="{FF2B5EF4-FFF2-40B4-BE49-F238E27FC236}">
                <ns2:creationId id="{7B8E17ED-07E8-4C12-9476-275EC919E836}"/>
              </a:ext>
            </a:extLst>
          </p:cNvPr>
          <p:cNvSpPr>
            <a:spLocks noGrp="1"/>
          </p:cNvSpPr>
          <p:nvPr/>
        </p:nvSpPr>
        <p:spPr>
          <a:xfrm>
            <a:off x="7515225" y="43624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椭圆 63">
            <a:extLst>
              <a:ext uri="{FF2B5EF4-FFF2-40B4-BE49-F238E27FC236}">
                <ns2:creationId id="{EC763CFD-A349-4878-980A-939B6647D6BF}"/>
              </a:ext>
            </a:extLst>
          </p:cNvPr>
          <p:cNvSpPr>
            <a:spLocks noGrp="1"/>
          </p:cNvSpPr>
          <p:nvPr/>
        </p:nvSpPr>
        <p:spPr>
          <a:xfrm>
            <a:off x="8105775" y="35623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椭圆 64">
            <a:extLst>
              <a:ext uri="{FF2B5EF4-FFF2-40B4-BE49-F238E27FC236}">
                <ns2:creationId id="{D28E0390-5843-4B23-97DE-32CCF7DD47FE}"/>
              </a:ext>
            </a:extLst>
          </p:cNvPr>
          <p:cNvSpPr>
            <a:spLocks noGrp="1"/>
          </p:cNvSpPr>
          <p:nvPr/>
        </p:nvSpPr>
        <p:spPr>
          <a:xfrm>
            <a:off x="8677275" y="4295775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椭圆 65">
            <a:extLst>
              <a:ext uri="{FF2B5EF4-FFF2-40B4-BE49-F238E27FC236}">
                <ns2:creationId id="{73557A1C-1046-44A2-AD78-9808428E8CE9}"/>
              </a:ext>
            </a:extLst>
          </p:cNvPr>
          <p:cNvSpPr>
            <a:spLocks noGrp="1"/>
          </p:cNvSpPr>
          <p:nvPr/>
        </p:nvSpPr>
        <p:spPr>
          <a:xfrm>
            <a:off x="9220200" y="2886075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椭圆 66">
            <a:extLst>
              <a:ext uri="{FF2B5EF4-FFF2-40B4-BE49-F238E27FC236}">
                <ns2:creationId id="{99E5902E-E5E9-485B-8D20-A352B59BF919}"/>
              </a:ext>
            </a:extLst>
          </p:cNvPr>
          <p:cNvSpPr>
            <a:spLocks noGrp="1"/>
          </p:cNvSpPr>
          <p:nvPr/>
        </p:nvSpPr>
        <p:spPr>
          <a:xfrm>
            <a:off x="9810750" y="365760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椭圆 67">
            <a:extLst>
              <a:ext uri="{FF2B5EF4-FFF2-40B4-BE49-F238E27FC236}">
                <ns2:creationId id="{C7F76FFF-329F-426C-853D-BCBF61713BFA}"/>
              </a:ext>
            </a:extLst>
          </p:cNvPr>
          <p:cNvSpPr>
            <a:spLocks noGrp="1"/>
          </p:cNvSpPr>
          <p:nvPr/>
        </p:nvSpPr>
        <p:spPr>
          <a:xfrm>
            <a:off x="10515600" y="2295525"/>
            <a:ext cx="190500" cy="19050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椭圆 68">
            <a:extLst>
              <a:ext uri="{FF2B5EF4-FFF2-40B4-BE49-F238E27FC236}">
                <ns2:creationId id="{75F74CBA-2B03-44ED-87CB-DD20BEFCF1F7}"/>
              </a:ext>
            </a:extLst>
          </p:cNvPr>
          <p:cNvSpPr>
            <a:spLocks noGrp="1"/>
          </p:cNvSpPr>
          <p:nvPr/>
        </p:nvSpPr>
        <p:spPr>
          <a:xfrm>
            <a:off x="11125200" y="3219450"/>
            <a:ext cx="133350" cy="133350"/>
          </a:xfrm>
          <a:prstGeom prst="ellipse">
            <a:avLst/>
          </a:prstGeom>
          <a:solidFill>
            <a:srgbClr val="9A9A9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040385951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ns2:creationId id="{186331B5-F91B-4C44-A4B1-27D252CB1F6E}"/>
              </a:ext>
            </a:extLst>
          </p:cNvPr>
          <p:cNvSpPr>
            <a:spLocks noGrp="1"/>
          </p:cNvSpPr>
          <p:nvPr/>
        </p:nvSpPr>
        <p:spPr>
          <a:xfrm>
            <a:off x="552450" y="714375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2" name="直接连接符 1">
            <a:extLst>
              <a:ext uri="{FF2B5EF4-FFF2-40B4-BE49-F238E27FC236}">
                <ns2:creationId id="{06D366B1-7889-490C-8A16-A2D35AB86A62}"/>
              </a:ext>
            </a:extLst>
          </p:cNvPr>
          <p:cNvSpPr>
            <a:spLocks noGrp="1"/>
          </p:cNvSpPr>
          <p:nvPr/>
        </p:nvSpPr>
        <p:spPr>
          <a:xfrm>
            <a:off x="552450" y="1714500"/>
            <a:ext cx="1428750" cy="0"/>
          </a:xfrm>
          <a:prstGeom prst="line">
            <a:avLst/>
          </a:prstGeom>
          <a:noFill/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2">
            <a:extLst>
              <a:ext uri="{FF2B5EF4-FFF2-40B4-BE49-F238E27FC236}">
                <ns2:creationId id="{BC6CA2D9-6706-4A43-9A3B-0934006B55BB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8096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4" name="矩形 3">
            <a:extLst>
              <a:ext uri="{FF2B5EF4-FFF2-40B4-BE49-F238E27FC236}">
                <ns2:creationId id="{1949C0B9-4F76-4652-9E0F-C113711BD516}"/>
              </a:ext>
            </a:extLst>
          </p:cNvPr>
          <p:cNvSpPr>
            <a:spLocks noGrp="1"/>
          </p:cNvSpPr>
          <p:nvPr/>
        </p:nvSpPr>
        <p:spPr>
          <a:xfrm>
            <a:off x="552450" y="2905125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F3DCE1"/>
                </a:solidFill>
              </a:defRPr>
            </a:pPr>
            <a:r>
              <a:rPr sz="1500" b="0">
                <a:solidFill>
                  <a:srgbClr val="F3DCE1"/>
                </a:solidFill>
              </a:rPr>
              <a:t>How should long-video memory condition diffusion-style robot policies?</a:t>
            </a:r>
          </a:p>
        </p:txBody>
      </p:sp>
      <p:sp>
        <p:nvSpPr>
          <p:cNvPr id="5" name="直接连接符 4">
            <a:extLst>
              <a:ext uri="{FF2B5EF4-FFF2-40B4-BE49-F238E27FC236}">
                <ns2:creationId id="{7C5C657C-3AFB-4F43-8492-A17AAFD1AC76}"/>
              </a:ext>
            </a:extLst>
          </p:cNvPr>
          <p:cNvSpPr>
            <a:spLocks noGrp="1"/>
          </p:cNvSpPr>
          <p:nvPr/>
        </p:nvSpPr>
        <p:spPr>
          <a:xfrm>
            <a:off x="83820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ns2:creationId id="{69A3A90C-5021-45A0-AD43-C183A75D2E6C}"/>
              </a:ext>
            </a:extLst>
          </p:cNvPr>
          <p:cNvSpPr>
            <a:spLocks noGrp="1"/>
          </p:cNvSpPr>
          <p:nvPr/>
        </p:nvSpPr>
        <p:spPr>
          <a:xfrm>
            <a:off x="87820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ns2:creationId id="{6DC753A5-47BA-470F-91FE-4407212787EF}"/>
              </a:ext>
            </a:extLst>
          </p:cNvPr>
          <p:cNvSpPr>
            <a:spLocks noGrp="1"/>
          </p:cNvSpPr>
          <p:nvPr/>
        </p:nvSpPr>
        <p:spPr>
          <a:xfrm>
            <a:off x="91821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ns2:creationId id="{6A6A4123-935E-490D-804D-927C77BFF5D4}"/>
              </a:ext>
            </a:extLst>
          </p:cNvPr>
          <p:cNvSpPr>
            <a:spLocks noGrp="1"/>
          </p:cNvSpPr>
          <p:nvPr/>
        </p:nvSpPr>
        <p:spPr>
          <a:xfrm>
            <a:off x="95821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ns2:creationId id="{E3D4A9DE-5990-410E-BED2-36E037984487}"/>
              </a:ext>
            </a:extLst>
          </p:cNvPr>
          <p:cNvSpPr>
            <a:spLocks noGrp="1"/>
          </p:cNvSpPr>
          <p:nvPr/>
        </p:nvSpPr>
        <p:spPr>
          <a:xfrm>
            <a:off x="99822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ns2:creationId id="{CE564A18-271B-4389-B45D-70C499DF0D48}"/>
              </a:ext>
            </a:extLst>
          </p:cNvPr>
          <p:cNvSpPr>
            <a:spLocks noGrp="1"/>
          </p:cNvSpPr>
          <p:nvPr/>
        </p:nvSpPr>
        <p:spPr>
          <a:xfrm>
            <a:off x="103822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ns2:creationId id="{EB255C8B-8FC5-4FB9-BBA0-B060F0E8A177}"/>
              </a:ext>
            </a:extLst>
          </p:cNvPr>
          <p:cNvSpPr>
            <a:spLocks noGrp="1"/>
          </p:cNvSpPr>
          <p:nvPr/>
        </p:nvSpPr>
        <p:spPr>
          <a:xfrm>
            <a:off x="1078230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ns2:creationId id="{7042BD77-C3A4-4D93-A74A-9B26E1698C45}"/>
              </a:ext>
            </a:extLst>
          </p:cNvPr>
          <p:cNvSpPr>
            <a:spLocks noGrp="1"/>
          </p:cNvSpPr>
          <p:nvPr/>
        </p:nvSpPr>
        <p:spPr>
          <a:xfrm>
            <a:off x="11182350" y="762000"/>
            <a:ext cx="0" cy="43815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ns2:creationId id="{D93CB103-271B-4309-8881-05B8C42D9EDF}"/>
              </a:ext>
            </a:extLst>
          </p:cNvPr>
          <p:cNvSpPr>
            <a:spLocks noGrp="1"/>
          </p:cNvSpPr>
          <p:nvPr/>
        </p:nvSpPr>
        <p:spPr>
          <a:xfrm>
            <a:off x="8382000" y="7620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ns2:creationId id="{954B4DF9-E7FB-45F8-82B7-A7AC234DD10E}"/>
              </a:ext>
            </a:extLst>
          </p:cNvPr>
          <p:cNvSpPr>
            <a:spLocks noGrp="1"/>
          </p:cNvSpPr>
          <p:nvPr/>
        </p:nvSpPr>
        <p:spPr>
          <a:xfrm>
            <a:off x="8382000" y="11620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ns2:creationId id="{2F01FD2A-BFE1-4931-8186-30509A2556F8}"/>
              </a:ext>
            </a:extLst>
          </p:cNvPr>
          <p:cNvSpPr>
            <a:spLocks noGrp="1"/>
          </p:cNvSpPr>
          <p:nvPr/>
        </p:nvSpPr>
        <p:spPr>
          <a:xfrm>
            <a:off x="8382000" y="15621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ns2:creationId id="{D73340E0-BA47-4690-B835-DB6D5EE4BF26}"/>
              </a:ext>
            </a:extLst>
          </p:cNvPr>
          <p:cNvSpPr>
            <a:spLocks noGrp="1"/>
          </p:cNvSpPr>
          <p:nvPr/>
        </p:nvSpPr>
        <p:spPr>
          <a:xfrm>
            <a:off x="8382000" y="19621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ns2:creationId id="{852DA32A-9080-40C9-837A-A72DC61D7666}"/>
              </a:ext>
            </a:extLst>
          </p:cNvPr>
          <p:cNvSpPr>
            <a:spLocks noGrp="1"/>
          </p:cNvSpPr>
          <p:nvPr/>
        </p:nvSpPr>
        <p:spPr>
          <a:xfrm>
            <a:off x="8382000" y="23622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ns2:creationId id="{22FFABF0-9305-44CC-98B8-07DA93F87B48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ns2:creationId id="{FDF728BC-037D-49A3-86EB-F3C74705B460}"/>
              </a:ext>
            </a:extLst>
          </p:cNvPr>
          <p:cNvSpPr>
            <a:spLocks noGrp="1"/>
          </p:cNvSpPr>
          <p:nvPr/>
        </p:nvSpPr>
        <p:spPr>
          <a:xfrm>
            <a:off x="8382000" y="31623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ns2:creationId id="{CA46501D-3C8A-432F-A738-BFB4B51163F6}"/>
              </a:ext>
            </a:extLst>
          </p:cNvPr>
          <p:cNvSpPr>
            <a:spLocks noGrp="1"/>
          </p:cNvSpPr>
          <p:nvPr/>
        </p:nvSpPr>
        <p:spPr>
          <a:xfrm>
            <a:off x="8382000" y="35623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ns2:creationId id="{C89EECF6-908A-49F7-9DC8-8A7E2C5CC16D}"/>
              </a:ext>
            </a:extLst>
          </p:cNvPr>
          <p:cNvSpPr>
            <a:spLocks noGrp="1"/>
          </p:cNvSpPr>
          <p:nvPr/>
        </p:nvSpPr>
        <p:spPr>
          <a:xfrm>
            <a:off x="8382000" y="39624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ns2:creationId id="{E74D7337-18D6-4432-8433-E8B9E7236EB5}"/>
              </a:ext>
            </a:extLst>
          </p:cNvPr>
          <p:cNvSpPr>
            <a:spLocks noGrp="1"/>
          </p:cNvSpPr>
          <p:nvPr/>
        </p:nvSpPr>
        <p:spPr>
          <a:xfrm>
            <a:off x="8382000" y="436245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ns2:creationId id="{CC3B7A1D-CDF6-464E-A84C-A5B62E402DA2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31432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椭圆 23">
            <a:extLst>
              <a:ext uri="{FF2B5EF4-FFF2-40B4-BE49-F238E27FC236}">
                <ns2:creationId id="{8E7BAA00-BF33-4BF3-B152-AC5B917AEEC5}"/>
              </a:ext>
            </a:extLst>
          </p:cNvPr>
          <p:cNvSpPr>
            <a:spLocks noGrp="1"/>
          </p:cNvSpPr>
          <p:nvPr/>
        </p:nvSpPr>
        <p:spPr>
          <a:xfrm>
            <a:off x="8601075" y="479107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椭圆 24">
            <a:extLst>
              <a:ext uri="{FF2B5EF4-FFF2-40B4-BE49-F238E27FC236}">
                <ns2:creationId id="{18E8E21B-095C-4A31-8B2E-0F5B44F080D4}"/>
              </a:ext>
            </a:extLst>
          </p:cNvPr>
          <p:cNvSpPr>
            <a:spLocks noGrp="1"/>
          </p:cNvSpPr>
          <p:nvPr/>
        </p:nvSpPr>
        <p:spPr>
          <a:xfrm>
            <a:off x="9058275" y="43624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椭圆 25">
            <a:extLst>
              <a:ext uri="{FF2B5EF4-FFF2-40B4-BE49-F238E27FC236}">
                <ns2:creationId id="{8847DC36-A1A4-4E86-8002-276F07524DE7}"/>
              </a:ext>
            </a:extLst>
          </p:cNvPr>
          <p:cNvSpPr>
            <a:spLocks noGrp="1"/>
          </p:cNvSpPr>
          <p:nvPr/>
        </p:nvSpPr>
        <p:spPr>
          <a:xfrm>
            <a:off x="9515475" y="393382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椭圆 26">
            <a:extLst>
              <a:ext uri="{FF2B5EF4-FFF2-40B4-BE49-F238E27FC236}">
                <ns2:creationId id="{56F4150B-E367-48EC-A401-34B23D31F246}"/>
              </a:ext>
            </a:extLst>
          </p:cNvPr>
          <p:cNvSpPr>
            <a:spLocks noGrp="1"/>
          </p:cNvSpPr>
          <p:nvPr/>
        </p:nvSpPr>
        <p:spPr>
          <a:xfrm>
            <a:off x="9972675" y="350520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椭圆 27">
            <a:extLst>
              <a:ext uri="{FF2B5EF4-FFF2-40B4-BE49-F238E27FC236}">
                <ns2:creationId id="{DAE99FCC-2429-4C8A-A06E-9D5E8665A5CE}"/>
              </a:ext>
            </a:extLst>
          </p:cNvPr>
          <p:cNvSpPr>
            <a:spLocks noGrp="1"/>
          </p:cNvSpPr>
          <p:nvPr/>
        </p:nvSpPr>
        <p:spPr>
          <a:xfrm>
            <a:off x="10429875" y="307657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椭圆 28">
            <a:extLst>
              <a:ext uri="{FF2B5EF4-FFF2-40B4-BE49-F238E27FC236}">
                <ns2:creationId id="{B9EC9A94-C21E-4ADB-AF6A-C36865E8E079}"/>
              </a:ext>
            </a:extLst>
          </p:cNvPr>
          <p:cNvSpPr>
            <a:spLocks noGrp="1"/>
          </p:cNvSpPr>
          <p:nvPr/>
        </p:nvSpPr>
        <p:spPr>
          <a:xfrm>
            <a:off x="10887075" y="2647950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ns2:creationId id="{25B62301-C2C9-4E4C-A291-39B384ABA4C1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ns2:creationId id="{129DC605-9E1E-423E-8B2A-3B2DD535D1D0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162B8ACB-9CBE-4D70-933E-4F517268890C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15EA6386-ABDE-465B-8476-2ECDDD7835EB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ns2:creationId id="{5C63C61A-0FA4-4FA7-B80B-85B9B4978D43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ns3:creationId val="138127300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ns2:creationId id="{D100CAC5-4BD5-43D0-9D9C-3C20C8661B6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FCEBB278-E4B7-4A01-A330-B9405C0A74F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Why This Problem Matters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9CAFE0D0-1571-4EBB-960C-AE3C0417FD8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6D99CEB0-6BDF-4A74-A69E-64B476B52C4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166AA3BB-10B5-4D5B-AA51-2D99C498B160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2318E3B3-C005-4C40-B443-E00B4517ECA5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FF7D32EB-0682-4142-A189-E943957E0FE6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ns2:creationId id="{FE506DCA-C4E9-4D69-9E9E-29BA710E4FAC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A51C30"/>
                </a:solidFill>
              </a:defRPr>
            </a:pPr>
            <a:r>
              <a:rPr sz="2175" b="1">
                <a:solidFill>
                  <a:srgbClr val="A51C30"/>
                </a:solidFill>
              </a:rPr>
              <a:t>Long-horizon robot tasks require information that may only appear earlier in the video history.</a:t>
            </a:r>
          </a:p>
        </p:txBody>
      </p:sp>
      <p:sp>
        <p:nvSpPr>
          <p:cNvPr id="9" name="矩形 8">
            <a:extLst>
              <a:ext uri="{FF2B5EF4-FFF2-40B4-BE49-F238E27FC236}">
                <ns2:creationId id="{15A31A80-70A5-41EB-BE6B-2CF96AEBE7A9}"/>
              </a:ext>
            </a:extLst>
          </p:cNvPr>
          <p:cNvSpPr>
            <a:spLocks noGrp="1"/>
          </p:cNvSpPr>
          <p:nvPr/>
        </p:nvSpPr>
        <p:spPr>
          <a:xfrm>
            <a:off x="5524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01</a:t>
            </a:r>
          </a:p>
        </p:txBody>
      </p:sp>
      <p:sp>
        <p:nvSpPr>
          <p:cNvPr id="10" name="直接连接符 9">
            <a:extLst>
              <a:ext uri="{FF2B5EF4-FFF2-40B4-BE49-F238E27FC236}">
                <ns2:creationId id="{08291863-277C-46AF-9DFB-2CAAE56B0225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ns2:creationId id="{DA90E4DF-4D0A-4301-A283-F1E0A59A7BBC}"/>
              </a:ext>
            </a:extLst>
          </p:cNvPr>
          <p:cNvSpPr>
            <a:spLocks noGrp="1"/>
          </p:cNvSpPr>
          <p:nvPr/>
        </p:nvSpPr>
        <p:spPr>
          <a:xfrm>
            <a:off x="5524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CONTEXT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7885EA7D-1CDD-4D4E-9B27-01574EDB0FC8}"/>
              </a:ext>
            </a:extLst>
          </p:cNvPr>
          <p:cNvSpPr>
            <a:spLocks noGrp="1"/>
          </p:cNvSpPr>
          <p:nvPr/>
        </p:nvSpPr>
        <p:spPr>
          <a:xfrm>
            <a:off x="5524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RoboMME includes reference and imitation tasks where the current frame is insufficient. The policy must preserve information from demonstrations, object states, and temporal goals.</a:t>
            </a:r>
          </a:p>
        </p:txBody>
      </p:sp>
      <p:sp>
        <p:nvSpPr>
          <p:cNvPr id="13" name="矩形: 圆角 12">
            <a:extLst>
              <a:ext uri="{FF2B5EF4-FFF2-40B4-BE49-F238E27FC236}">
                <ns2:creationId id="{A899B442-FA83-42A7-8249-9F295A5E4654}"/>
              </a:ext>
            </a:extLst>
          </p:cNvPr>
          <p:cNvSpPr>
            <a:spLocks noGrp="1"/>
          </p:cNvSpPr>
          <p:nvPr/>
        </p:nvSpPr>
        <p:spPr>
          <a:xfrm>
            <a:off x="5524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3EF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ns2:creationId id="{D924BE0A-E6B5-4143-9299-6B3C2EC30426}"/>
              </a:ext>
            </a:extLst>
          </p:cNvPr>
          <p:cNvSpPr>
            <a:spLocks noGrp="1"/>
          </p:cNvSpPr>
          <p:nvPr/>
        </p:nvSpPr>
        <p:spPr>
          <a:xfrm>
            <a:off x="7239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RoboMME video-conditioned tasks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8D790E8D-6038-49F7-8092-75DA1C25F7D3}"/>
              </a:ext>
            </a:extLst>
          </p:cNvPr>
          <p:cNvSpPr>
            <a:spLocks noGrp="1"/>
          </p:cNvSpPr>
          <p:nvPr/>
        </p:nvSpPr>
        <p:spPr>
          <a:xfrm>
            <a:off x="42862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02</a:t>
            </a:r>
          </a:p>
        </p:txBody>
      </p:sp>
      <p:sp>
        <p:nvSpPr>
          <p:cNvPr id="16" name="直接连接符 15">
            <a:extLst>
              <a:ext uri="{FF2B5EF4-FFF2-40B4-BE49-F238E27FC236}">
                <ns2:creationId id="{29976D53-3605-49BD-B65C-B9E545FE8605}"/>
              </a:ext>
            </a:extLst>
          </p:cNvPr>
          <p:cNvSpPr>
            <a:spLocks noGrp="1"/>
          </p:cNvSpPr>
          <p:nvPr/>
        </p:nvSpPr>
        <p:spPr>
          <a:xfrm>
            <a:off x="42862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ns2:creationId id="{9EBE9D8B-B248-4F73-B5ED-0AC92EC9A97E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LIMITATION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84682A78-CFF0-4E46-906F-C8A2EEE4D5A6}"/>
              </a:ext>
            </a:extLst>
          </p:cNvPr>
          <p:cNvSpPr>
            <a:spLocks noGrp="1"/>
          </p:cNvSpPr>
          <p:nvPr/>
        </p:nvSpPr>
        <p:spPr>
          <a:xfrm>
            <a:off x="42862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MovieChat memory is designed for video QA, where a language model reads sparse visual evidence. A robot policy instead predicts denoising directions for future actions.</a:t>
            </a:r>
          </a:p>
        </p:txBody>
      </p:sp>
      <p:sp>
        <p:nvSpPr>
          <p:cNvPr id="19" name="矩形: 圆角 18">
            <a:extLst>
              <a:ext uri="{FF2B5EF4-FFF2-40B4-BE49-F238E27FC236}">
                <ns2:creationId id="{EA753200-64A2-42C5-8E98-CBD5011259D5}"/>
              </a:ext>
            </a:extLst>
          </p:cNvPr>
          <p:cNvSpPr>
            <a:spLocks noGrp="1"/>
          </p:cNvSpPr>
          <p:nvPr/>
        </p:nvSpPr>
        <p:spPr>
          <a:xfrm>
            <a:off x="42862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EEE9E0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ns2:creationId id="{00F1BDFB-7A86-4053-84B4-5847E9E34F4E}"/>
              </a:ext>
            </a:extLst>
          </p:cNvPr>
          <p:cNvSpPr>
            <a:spLocks noGrp="1"/>
          </p:cNvSpPr>
          <p:nvPr/>
        </p:nvSpPr>
        <p:spPr>
          <a:xfrm>
            <a:off x="44577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QA memory != action condition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78B24F64-1DEE-4EF4-8EA3-7A13187674EB}"/>
              </a:ext>
            </a:extLst>
          </p:cNvPr>
          <p:cNvSpPr>
            <a:spLocks noGrp="1"/>
          </p:cNvSpPr>
          <p:nvPr/>
        </p:nvSpPr>
        <p:spPr>
          <a:xfrm>
            <a:off x="8020050" y="18288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03</a:t>
            </a:r>
          </a:p>
        </p:txBody>
      </p:sp>
      <p:sp>
        <p:nvSpPr>
          <p:cNvPr id="22" name="直接连接符 21">
            <a:extLst>
              <a:ext uri="{FF2B5EF4-FFF2-40B4-BE49-F238E27FC236}">
                <ns2:creationId id="{CE0918A6-4C6F-4B9A-8C92-FF473E99643F}"/>
              </a:ext>
            </a:extLst>
          </p:cNvPr>
          <p:cNvSpPr>
            <a:spLocks noGrp="1"/>
          </p:cNvSpPr>
          <p:nvPr/>
        </p:nvSpPr>
        <p:spPr>
          <a:xfrm>
            <a:off x="8020050" y="2238375"/>
            <a:ext cx="314325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>
            <a:extLst>
              <a:ext uri="{FF2B5EF4-FFF2-40B4-BE49-F238E27FC236}">
                <ns2:creationId id="{C7AF524E-6934-4703-8949-CC85C89E8947}"/>
              </a:ext>
            </a:extLst>
          </p:cNvPr>
          <p:cNvSpPr>
            <a:spLocks noGrp="1"/>
          </p:cNvSpPr>
          <p:nvPr/>
        </p:nvSpPr>
        <p:spPr>
          <a:xfrm>
            <a:off x="8020050" y="24288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OPPORTUNITY</a:t>
            </a:r>
          </a:p>
        </p:txBody>
      </p:sp>
      <p:sp>
        <p:nvSpPr>
          <p:cNvPr id="24" name="矩形 23">
            <a:extLst>
              <a:ext uri="{FF2B5EF4-FFF2-40B4-BE49-F238E27FC236}">
                <ns2:creationId id="{35C9BFED-C64D-4657-B247-C1FC9E57CDD2}"/>
              </a:ext>
            </a:extLst>
          </p:cNvPr>
          <p:cNvSpPr>
            <a:spLocks noGrp="1"/>
          </p:cNvSpPr>
          <p:nvPr/>
        </p:nvSpPr>
        <p:spPr>
          <a:xfrm>
            <a:off x="8020050" y="2876550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B6B68"/>
                </a:solidFill>
              </a:defRPr>
            </a:pPr>
            <a:r>
              <a:rPr sz="1200" b="0">
                <a:solidFill>
                  <a:srgbClr val="6B6B68"/>
                </a:solidFill>
              </a:rPr>
              <a:t>If memory interface is the bottleneck, comparing context vs modulation can identify how long-video memory should enter embodied policies.</a:t>
            </a:r>
          </a:p>
        </p:txBody>
      </p:sp>
      <p:sp>
        <p:nvSpPr>
          <p:cNvPr id="25" name="矩形: 圆角 24">
            <a:extLst>
              <a:ext uri="{FF2B5EF4-FFF2-40B4-BE49-F238E27FC236}">
                <ns2:creationId id="{ADFFE741-F560-4E4F-A8EE-F538C7911A65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3143250" cy="1123950"/>
          </a:xfrm>
          <a:prstGeom prst="roundRect">
            <a:avLst>
              <a:gd name="adj" fmla="val 6780"/>
            </a:avLst>
          </a:prstGeom>
          <a:solidFill>
            <a:srgbClr val="F3EF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ns2:creationId id="{A93BB663-8792-4C56-8CAF-DA436A1017D8}"/>
              </a:ext>
            </a:extLst>
          </p:cNvPr>
          <p:cNvSpPr>
            <a:spLocks noGrp="1"/>
          </p:cNvSpPr>
          <p:nvPr/>
        </p:nvSpPr>
        <p:spPr>
          <a:xfrm>
            <a:off x="8191500" y="46291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Memory interface ablation</a:t>
            </a:r>
          </a:p>
        </p:txBody>
      </p:sp>
    </p:spTree>
    <p:extLst>
      <p:ext uri="{BB962C8B-B14F-4D97-AF65-F5344CB8AC3E}">
        <ns3:creationId val="468922863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ns2:creationId id="{284125BB-C636-4CD3-A016-82FB2B5791A1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144CF810-808C-4246-9588-C1DF7D4B6CF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System Architecture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D35F3F1A-C391-4209-B97B-3B4B67B6708B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431529EB-C99F-485D-A997-ECC62DFCE216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FC97152E-108F-41C4-A65A-A40F59B13C88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CB29B89D-E4C6-47EF-962E-50E1C6A9AD25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44A4EB58-EA30-44A4-AB36-29263CCBC970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ns2:creationId id="{A487C155-BD8E-4855-9F9D-23D8B1ED156B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B6B68"/>
                </a:solidFill>
              </a:defRPr>
            </a:pPr>
            <a:r>
              <a:rPr sz="1350" b="0">
                <a:solidFill>
                  <a:srgbClr val="6B6B68"/>
                </a:solidFill>
              </a:rPr>
              <a:t>We evaluate whether compressed video memory improves OpenPI/pi0.5 action prediction on RoboMME.</a:t>
            </a:r>
          </a:p>
        </p:txBody>
      </p:sp>
      <p:sp>
        <p:nvSpPr>
          <p:cNvPr id="9" name="直接连接符 8">
            <a:extLst>
              <a:ext uri="{FF2B5EF4-FFF2-40B4-BE49-F238E27FC236}">
                <ns2:creationId id="{1CFB9DFD-32C4-4781-8C5D-E82A95F43AAA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ns2:creationId id="{403151AE-B9B4-45B3-9206-9AF39950B3F3}"/>
              </a:ext>
            </a:extLst>
          </p:cNvPr>
          <p:cNvSpPr>
            <a:spLocks noGrp="1"/>
          </p:cNvSpPr>
          <p:nvPr/>
        </p:nvSpPr>
        <p:spPr>
          <a:xfrm>
            <a:off x="47625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ns2:creationId id="{87F26EC6-0592-40BA-85F9-4D894FADE2C3}"/>
              </a:ext>
            </a:extLst>
          </p:cNvPr>
          <p:cNvSpPr>
            <a:spLocks noGrp="1"/>
          </p:cNvSpPr>
          <p:nvPr/>
        </p:nvSpPr>
        <p:spPr>
          <a:xfrm>
            <a:off x="7239000" y="3009900"/>
            <a:ext cx="85725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ns2:creationId id="{710C5092-18B0-4AD8-BEAB-6E47119EB70E}"/>
              </a:ext>
            </a:extLst>
          </p:cNvPr>
          <p:cNvSpPr>
            <a:spLocks noGrp="1"/>
          </p:cNvSpPr>
          <p:nvPr/>
        </p:nvSpPr>
        <p:spPr>
          <a:xfrm>
            <a:off x="9715500" y="3009900"/>
            <a:ext cx="571500" cy="0"/>
          </a:xfrm>
          <a:prstGeom prst="line">
            <a:avLst/>
          </a:prstGeom>
          <a:noFill/>
          <a:ln w="19050">
            <a:solidFill>
              <a:srgbClr val="1717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: 圆角 12">
            <a:extLst>
              <a:ext uri="{FF2B5EF4-FFF2-40B4-BE49-F238E27FC236}">
                <ns2:creationId id="{51548FD4-4BC0-4AF8-ACB3-4856851E063C}"/>
              </a:ext>
            </a:extLst>
          </p:cNvPr>
          <p:cNvSpPr>
            <a:spLocks noGrp="1"/>
          </p:cNvSpPr>
          <p:nvPr/>
        </p:nvSpPr>
        <p:spPr>
          <a:xfrm>
            <a:off x="6667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ns2:creationId id="{97777F6D-D089-4FA2-9309-CDE1CE5AD51D}"/>
              </a:ext>
            </a:extLst>
          </p:cNvPr>
          <p:cNvSpPr>
            <a:spLocks noGrp="1"/>
          </p:cNvSpPr>
          <p:nvPr/>
        </p:nvSpPr>
        <p:spPr>
          <a:xfrm>
            <a:off x="7810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PERCEPTION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B25CA625-7FE5-49AF-824F-D2010B9F3674}"/>
              </a:ext>
            </a:extLst>
          </p:cNvPr>
          <p:cNvSpPr>
            <a:spLocks noGrp="1"/>
          </p:cNvSpPr>
          <p:nvPr/>
        </p:nvSpPr>
        <p:spPr>
          <a:xfrm>
            <a:off x="9334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ns2:creationId id="{7FFFA85C-716A-4BE9-A349-0ED848D66324}"/>
              </a:ext>
            </a:extLst>
          </p:cNvPr>
          <p:cNvSpPr>
            <a:spLocks noGrp="1"/>
          </p:cNvSpPr>
          <p:nvPr/>
        </p:nvSpPr>
        <p:spPr>
          <a:xfrm>
            <a:off x="9334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FluxVLA SigLIP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A1CE0FA5-FEE8-4FB3-A021-FFE3371F86C1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front + wrist RGB -&gt; 1152-d visual tokens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E851703B-C188-4E69-8D4D-ACC950BBC9DB}"/>
              </a:ext>
            </a:extLst>
          </p:cNvPr>
          <p:cNvSpPr>
            <a:spLocks noGrp="1"/>
          </p:cNvSpPr>
          <p:nvPr/>
        </p:nvSpPr>
        <p:spPr>
          <a:xfrm>
            <a:off x="31432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ns2:creationId id="{13A951F9-5ACE-4C0D-B7F8-3C904529A197}"/>
              </a:ext>
            </a:extLst>
          </p:cNvPr>
          <p:cNvSpPr>
            <a:spLocks noGrp="1"/>
          </p:cNvSpPr>
          <p:nvPr/>
        </p:nvSpPr>
        <p:spPr>
          <a:xfrm>
            <a:off x="32575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REPRESENTATION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2147BCDD-48BF-4B80-B112-2FC06E54BA15}"/>
              </a:ext>
            </a:extLst>
          </p:cNvPr>
          <p:cNvSpPr>
            <a:spLocks noGrp="1"/>
          </p:cNvSpPr>
          <p:nvPr/>
        </p:nvSpPr>
        <p:spPr>
          <a:xfrm>
            <a:off x="34099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ns2:creationId id="{2F7D9295-A979-4CB8-B558-B168AE6AED33}"/>
              </a:ext>
            </a:extLst>
          </p:cNvPr>
          <p:cNvSpPr>
            <a:spLocks noGrp="1"/>
          </p:cNvSpPr>
          <p:nvPr/>
        </p:nvSpPr>
        <p:spPr>
          <a:xfrm>
            <a:off x="34099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MovieChat memory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A8375217-7AC9-41B6-964D-62E77F5B6DC8}"/>
              </a:ext>
            </a:extLst>
          </p:cNvPr>
          <p:cNvSpPr>
            <a:spLocks noGrp="1"/>
          </p:cNvSpPr>
          <p:nvPr/>
        </p:nvSpPr>
        <p:spPr>
          <a:xfrm>
            <a:off x="32861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short/long compression -&gt; 128 memory tokens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7BED72A1-5224-4271-8B38-CEE49A398B03}"/>
              </a:ext>
            </a:extLst>
          </p:cNvPr>
          <p:cNvSpPr>
            <a:spLocks noGrp="1"/>
          </p:cNvSpPr>
          <p:nvPr/>
        </p:nvSpPr>
        <p:spPr>
          <a:xfrm>
            <a:off x="56197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ns2:creationId id="{43BCD5CB-3FC0-470E-952A-B1C7A5DBBEF0}"/>
              </a:ext>
            </a:extLst>
          </p:cNvPr>
          <p:cNvSpPr>
            <a:spLocks noGrp="1"/>
          </p:cNvSpPr>
          <p:nvPr/>
        </p:nvSpPr>
        <p:spPr>
          <a:xfrm>
            <a:off x="57340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POLICY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A56ECC5C-E740-4995-B6F8-70D79B51256E}"/>
              </a:ext>
            </a:extLst>
          </p:cNvPr>
          <p:cNvSpPr>
            <a:spLocks noGrp="1"/>
          </p:cNvSpPr>
          <p:nvPr/>
        </p:nvSpPr>
        <p:spPr>
          <a:xfrm>
            <a:off x="58864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ns2:creationId id="{7D59D5E9-2A40-47ED-AA07-E6290561C825}"/>
              </a:ext>
            </a:extLst>
          </p:cNvPr>
          <p:cNvSpPr>
            <a:spLocks noGrp="1"/>
          </p:cNvSpPr>
          <p:nvPr/>
        </p:nvSpPr>
        <p:spPr>
          <a:xfrm>
            <a:off x="58864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HistoryPi0 / OpenPI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19E3E068-4672-4DB9-AA78-ABB86F093189}"/>
              </a:ext>
            </a:extLst>
          </p:cNvPr>
          <p:cNvSpPr>
            <a:spLocks noGrp="1"/>
          </p:cNvSpPr>
          <p:nvPr/>
        </p:nvSpPr>
        <p:spPr>
          <a:xfrm>
            <a:off x="57626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memory + prompt + observation -&gt; action chunk</a:t>
            </a:r>
          </a:p>
        </p:txBody>
      </p:sp>
      <p:sp>
        <p:nvSpPr>
          <p:cNvPr id="28" name="矩形: 圆角 27">
            <a:extLst>
              <a:ext uri="{FF2B5EF4-FFF2-40B4-BE49-F238E27FC236}">
                <ns2:creationId id="{D580B5B1-CAEE-48F7-AE11-78BE3E8685F9}"/>
              </a:ext>
            </a:extLst>
          </p:cNvPr>
          <p:cNvSpPr>
            <a:spLocks noGrp="1"/>
          </p:cNvSpPr>
          <p:nvPr/>
        </p:nvSpPr>
        <p:spPr>
          <a:xfrm>
            <a:off x="8096250" y="1866900"/>
            <a:ext cx="1762125" cy="2286000"/>
          </a:xfrm>
          <a:prstGeom prst="roundRect">
            <a:avLst>
              <a:gd name="adj" fmla="val 4324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矩形 28">
            <a:extLst>
              <a:ext uri="{FF2B5EF4-FFF2-40B4-BE49-F238E27FC236}">
                <ns2:creationId id="{34FCAFE9-5944-4A1C-8FE2-DEF2F91F31C4}"/>
              </a:ext>
            </a:extLst>
          </p:cNvPr>
          <p:cNvSpPr>
            <a:spLocks noGrp="1"/>
          </p:cNvSpPr>
          <p:nvPr/>
        </p:nvSpPr>
        <p:spPr>
          <a:xfrm>
            <a:off x="8210550" y="2028825"/>
            <a:ext cx="1533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CONTROL</a:t>
            </a:r>
          </a:p>
        </p:txBody>
      </p:sp>
      <p:sp>
        <p:nvSpPr>
          <p:cNvPr id="30" name="矩形 29">
            <a:extLst>
              <a:ext uri="{FF2B5EF4-FFF2-40B4-BE49-F238E27FC236}">
                <ns2:creationId id="{9451323B-B074-4CA9-B6BC-4048E505D194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1228725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ns2:creationId id="{37545FC0-6CA5-4E8C-B94E-328E3541942E}"/>
              </a:ext>
            </a:extLst>
          </p:cNvPr>
          <p:cNvSpPr>
            <a:spLocks noGrp="1"/>
          </p:cNvSpPr>
          <p:nvPr/>
        </p:nvSpPr>
        <p:spPr>
          <a:xfrm>
            <a:off x="8362950" y="2543175"/>
            <a:ext cx="12287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Flow matching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0D6985D0-70AB-438C-B805-85F9ABEFEC17}"/>
              </a:ext>
            </a:extLst>
          </p:cNvPr>
          <p:cNvSpPr>
            <a:spLocks noGrp="1"/>
          </p:cNvSpPr>
          <p:nvPr/>
        </p:nvSpPr>
        <p:spPr>
          <a:xfrm>
            <a:off x="8239125" y="3448050"/>
            <a:ext cx="1476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noisy action + timestep -&gt; denoising direction</a:t>
            </a:r>
          </a:p>
        </p:txBody>
      </p:sp>
      <p:sp>
        <p:nvSpPr>
          <p:cNvPr id="33" name="矩形: 圆角 32">
            <a:extLst>
              <a:ext uri="{FF2B5EF4-FFF2-40B4-BE49-F238E27FC236}">
                <ns2:creationId id="{6BE73E40-5C49-41AE-8B27-F4C83C0EE434}"/>
              </a:ext>
            </a:extLst>
          </p:cNvPr>
          <p:cNvSpPr>
            <a:spLocks noGrp="1"/>
          </p:cNvSpPr>
          <p:nvPr/>
        </p:nvSpPr>
        <p:spPr>
          <a:xfrm>
            <a:off x="10287000" y="1866900"/>
            <a:ext cx="1428750" cy="2286000"/>
          </a:xfrm>
          <a:prstGeom prst="roundRect">
            <a:avLst>
              <a:gd name="adj" fmla="val 5333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ns2:creationId id="{A7621CDB-A6B7-4828-A846-5E7B30DF935E}"/>
              </a:ext>
            </a:extLst>
          </p:cNvPr>
          <p:cNvSpPr>
            <a:spLocks noGrp="1"/>
          </p:cNvSpPr>
          <p:nvPr/>
        </p:nvSpPr>
        <p:spPr>
          <a:xfrm>
            <a:off x="10401300" y="20288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ROBOT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5BFBB68A-1E71-416A-A089-EF5765EDD8F6}"/>
              </a:ext>
            </a:extLst>
          </p:cNvPr>
          <p:cNvSpPr>
            <a:spLocks noGrp="1"/>
          </p:cNvSpPr>
          <p:nvPr/>
        </p:nvSpPr>
        <p:spPr>
          <a:xfrm>
            <a:off x="10553700" y="2543175"/>
            <a:ext cx="895350" cy="685800"/>
          </a:xfrm>
          <a:prstGeom prst="rect">
            <a:avLst/>
          </a:prstGeom>
          <a:solidFill>
            <a:srgbClr val="E9E5DD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>
            <a:extLst>
              <a:ext uri="{FF2B5EF4-FFF2-40B4-BE49-F238E27FC236}">
                <ns2:creationId id="{3747A969-7CBA-45DD-99A8-86507B7F0CE9}"/>
              </a:ext>
            </a:extLst>
          </p:cNvPr>
          <p:cNvSpPr>
            <a:spLocks noGrp="1"/>
          </p:cNvSpPr>
          <p:nvPr/>
        </p:nvSpPr>
        <p:spPr>
          <a:xfrm>
            <a:off x="10553700" y="2543175"/>
            <a:ext cx="895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RoboMME rollout</a:t>
            </a:r>
          </a:p>
        </p:txBody>
      </p:sp>
      <p:sp>
        <p:nvSpPr>
          <p:cNvPr id="37" name="矩形 36">
            <a:extLst>
              <a:ext uri="{FF2B5EF4-FFF2-40B4-BE49-F238E27FC236}">
                <ns2:creationId id="{8A708D3B-9EFE-4EEC-9C66-F28B4F3780D1}"/>
              </a:ext>
            </a:extLst>
          </p:cNvPr>
          <p:cNvSpPr>
            <a:spLocks noGrp="1"/>
          </p:cNvSpPr>
          <p:nvPr/>
        </p:nvSpPr>
        <p:spPr>
          <a:xfrm>
            <a:off x="10429875" y="34480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task success over 16 benchmark tasks</a:t>
            </a:r>
          </a:p>
        </p:txBody>
      </p:sp>
      <p:sp>
        <p:nvSpPr>
          <p:cNvPr id="38" name="矩形: 圆角 37">
            <a:extLst>
              <a:ext uri="{FF2B5EF4-FFF2-40B4-BE49-F238E27FC236}">
                <ns2:creationId id="{D2C23330-68BC-4B15-A1C9-6E256EEF65E3}"/>
              </a:ext>
            </a:extLst>
          </p:cNvPr>
          <p:cNvSpPr>
            <a:spLocks noGrp="1"/>
          </p:cNvSpPr>
          <p:nvPr/>
        </p:nvSpPr>
        <p:spPr>
          <a:xfrm>
            <a:off x="4343400" y="4629150"/>
            <a:ext cx="3486150" cy="666750"/>
          </a:xfrm>
          <a:prstGeom prst="roundRect">
            <a:avLst>
              <a:gd name="adj" fmla="val 11429"/>
            </a:avLst>
          </a:prstGeom>
          <a:solidFill>
            <a:srgbClr val="EFF8F8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矩形 38">
            <a:extLst>
              <a:ext uri="{FF2B5EF4-FFF2-40B4-BE49-F238E27FC236}">
                <ns2:creationId id="{5222CD5D-99EC-4F55-9229-43BBF3079EAC}"/>
              </a:ext>
            </a:extLst>
          </p:cNvPr>
          <p:cNvSpPr>
            <a:spLocks noGrp="1"/>
          </p:cNvSpPr>
          <p:nvPr/>
        </p:nvSpPr>
        <p:spPr>
          <a:xfrm>
            <a:off x="4495800" y="4762500"/>
            <a:ext cx="3181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A7B8"/>
                </a:solidFill>
              </a:defRPr>
            </a:pPr>
            <a:r>
              <a:rPr sz="975" b="1">
                <a:solidFill>
                  <a:srgbClr val="17A7B8"/>
                </a:solidFill>
              </a:rPr>
              <a:t>Compare memory as modulation vs context</a:t>
            </a:r>
          </a:p>
        </p:txBody>
      </p:sp>
      <p:sp>
        <p:nvSpPr>
          <p:cNvPr id="40" name="直接连接符 39">
            <a:extLst>
              <a:ext uri="{FF2B5EF4-FFF2-40B4-BE49-F238E27FC236}">
                <ns2:creationId id="{C372D343-38A5-4699-82A0-E7A35DF116FB}"/>
              </a:ext>
            </a:extLst>
          </p:cNvPr>
          <p:cNvSpPr>
            <a:spLocks noGrp="1"/>
          </p:cNvSpPr>
          <p:nvPr/>
        </p:nvSpPr>
        <p:spPr>
          <a:xfrm>
            <a:off x="6096000" y="4152900"/>
            <a:ext cx="0" cy="47625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ns3:creationId val="1067949035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ns2:creationId id="{24D0899F-CB7B-4F37-B58E-7C5D8C5785C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A7120BD1-45D7-4646-B5EE-C28D8FB5BE1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Quantitative Results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09ACEAF7-9417-401F-9551-3F9C89AFD9C9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84335083-DE08-4163-B4D2-82ACAE24B528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6D68593D-AFF5-452C-A0B5-70A7606E04F7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CB9F72B5-DA1B-4A1A-93C2-EDC8FA33BDD1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B06AF5C6-0037-44FD-B284-E2CE704760AD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8" name="矩形 7">
            <a:extLst>
              <a:ext uri="{FF2B5EF4-FFF2-40B4-BE49-F238E27FC236}">
                <ns2:creationId id="{BD1B820C-A90B-4358-951D-CFD00F31980C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pi0.5 baseline</a:t>
            </a:r>
          </a:p>
        </p:txBody>
      </p:sp>
      <p:sp>
        <p:nvSpPr>
          <p:cNvPr id="9" name="矩形 8">
            <a:extLst>
              <a:ext uri="{FF2B5EF4-FFF2-40B4-BE49-F238E27FC236}">
                <ns2:creationId id="{EA688BC5-410C-4793-B24E-594A38DB27D1}"/>
              </a:ext>
            </a:extLst>
          </p:cNvPr>
          <p:cNvSpPr>
            <a:spLocks noGrp="1"/>
          </p:cNvSpPr>
          <p:nvPr/>
        </p:nvSpPr>
        <p:spPr>
          <a:xfrm>
            <a:off x="5524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16.5%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30F44569-5383-4575-A62B-EA34746CE43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80k checkpoint</a:t>
            </a:r>
          </a:p>
        </p:txBody>
      </p:sp>
      <p:sp>
        <p:nvSpPr>
          <p:cNvPr id="11" name="直接连接符 10">
            <a:extLst>
              <a:ext uri="{FF2B5EF4-FFF2-40B4-BE49-F238E27FC236}">
                <ns2:creationId id="{5D0D9DD3-8CEF-429C-AEF5-8C961A23D8AB}"/>
              </a:ext>
            </a:extLst>
          </p:cNvPr>
          <p:cNvSpPr>
            <a:spLocks noGrp="1"/>
          </p:cNvSpPr>
          <p:nvPr/>
        </p:nvSpPr>
        <p:spPr>
          <a:xfrm>
            <a:off x="31623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ns2:creationId id="{6B03D9EA-8956-4255-9BB1-F92967A5A6FC}"/>
              </a:ext>
            </a:extLst>
          </p:cNvPr>
          <p:cNvSpPr>
            <a:spLocks noGrp="1"/>
          </p:cNvSpPr>
          <p:nvPr/>
        </p:nvSpPr>
        <p:spPr>
          <a:xfrm>
            <a:off x="34099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Recurrent TTT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F01B50E2-561D-4991-9CD0-92559730974C}"/>
              </a:ext>
            </a:extLst>
          </p:cNvPr>
          <p:cNvSpPr>
            <a:spLocks noGrp="1"/>
          </p:cNvSpPr>
          <p:nvPr/>
        </p:nvSpPr>
        <p:spPr>
          <a:xfrm>
            <a:off x="34099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20.1%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159DA32F-6E78-4EB0-B279-7569CFBE72D1}"/>
              </a:ext>
            </a:extLst>
          </p:cNvPr>
          <p:cNvSpPr>
            <a:spLocks noGrp="1"/>
          </p:cNvSpPr>
          <p:nvPr/>
        </p:nvSpPr>
        <p:spPr>
          <a:xfrm>
            <a:off x="34099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best current result</a:t>
            </a:r>
          </a:p>
        </p:txBody>
      </p:sp>
      <p:sp>
        <p:nvSpPr>
          <p:cNvPr id="15" name="直接连接符 14">
            <a:extLst>
              <a:ext uri="{FF2B5EF4-FFF2-40B4-BE49-F238E27FC236}">
                <ns2:creationId id="{8FDBF77C-23F4-4699-8A6E-6B8700536255}"/>
              </a:ext>
            </a:extLst>
          </p:cNvPr>
          <p:cNvSpPr>
            <a:spLocks noGrp="1"/>
          </p:cNvSpPr>
          <p:nvPr/>
        </p:nvSpPr>
        <p:spPr>
          <a:xfrm>
            <a:off x="60198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ns2:creationId id="{8F8643DF-CA63-46CF-B375-C5770DFA76B4}"/>
              </a:ext>
            </a:extLst>
          </p:cNvPr>
          <p:cNvSpPr>
            <a:spLocks noGrp="1"/>
          </p:cNvSpPr>
          <p:nvPr/>
        </p:nvSpPr>
        <p:spPr>
          <a:xfrm>
            <a:off x="62674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MovieChat modul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DD6F391-B040-4C1B-9500-BB273CDBE85E}"/>
              </a:ext>
            </a:extLst>
          </p:cNvPr>
          <p:cNvSpPr>
            <a:spLocks noGrp="1"/>
          </p:cNvSpPr>
          <p:nvPr/>
        </p:nvSpPr>
        <p:spPr>
          <a:xfrm>
            <a:off x="62674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8.9%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C3768B6E-D507-446F-B0D8-31B65C98ED97}"/>
              </a:ext>
            </a:extLst>
          </p:cNvPr>
          <p:cNvSpPr>
            <a:spLocks noGrp="1"/>
          </p:cNvSpPr>
          <p:nvPr/>
        </p:nvSpPr>
        <p:spPr>
          <a:xfrm>
            <a:off x="62674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converged but weak</a:t>
            </a:r>
          </a:p>
        </p:txBody>
      </p:sp>
      <p:sp>
        <p:nvSpPr>
          <p:cNvPr id="19" name="直接连接符 18">
            <a:extLst>
              <a:ext uri="{FF2B5EF4-FFF2-40B4-BE49-F238E27FC236}">
                <ns2:creationId id="{050F7177-F180-49D9-A858-481928252466}"/>
              </a:ext>
            </a:extLst>
          </p:cNvPr>
          <p:cNvSpPr>
            <a:spLocks noGrp="1"/>
          </p:cNvSpPr>
          <p:nvPr/>
        </p:nvSpPr>
        <p:spPr>
          <a:xfrm>
            <a:off x="88773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ns2:creationId id="{8E924F5B-189C-4183-8CFD-71CF70BB8419}"/>
              </a:ext>
            </a:extLst>
          </p:cNvPr>
          <p:cNvSpPr>
            <a:spLocks noGrp="1"/>
          </p:cNvSpPr>
          <p:nvPr/>
        </p:nvSpPr>
        <p:spPr>
          <a:xfrm>
            <a:off x="9124950" y="8667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B68"/>
                </a:solidFill>
              </a:defRPr>
            </a:pPr>
            <a:r>
              <a:rPr sz="900" b="1">
                <a:solidFill>
                  <a:srgbClr val="6B6B68"/>
                </a:solidFill>
              </a:rPr>
              <a:t>Context test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48DD2655-877C-4257-AE6A-80E5D973CA3C}"/>
              </a:ext>
            </a:extLst>
          </p:cNvPr>
          <p:cNvSpPr>
            <a:spLocks noGrp="1"/>
          </p:cNvSpPr>
          <p:nvPr/>
        </p:nvSpPr>
        <p:spPr>
          <a:xfrm>
            <a:off x="9124950" y="1133475"/>
            <a:ext cx="247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A51C30"/>
                </a:solidFill>
              </a:defRPr>
            </a:pPr>
            <a:r>
              <a:rPr sz="2250" b="1">
                <a:solidFill>
                  <a:srgbClr val="A51C30"/>
                </a:solidFill>
              </a:rPr>
              <a:t>next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E41FB8B4-BC6A-4815-BF65-6CFE36742900}"/>
              </a:ext>
            </a:extLst>
          </p:cNvPr>
          <p:cNvSpPr>
            <a:spLocks noGrp="1"/>
          </p:cNvSpPr>
          <p:nvPr/>
        </p:nvSpPr>
        <p:spPr>
          <a:xfrm>
            <a:off x="9124950" y="156210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queued experiment</a:t>
            </a:r>
          </a:p>
        </p:txBody>
      </p:sp>
      <p:sp>
        <p:nvSpPr>
          <p:cNvPr id="23" name="直接连接符 22">
            <a:extLst>
              <a:ext uri="{FF2B5EF4-FFF2-40B4-BE49-F238E27FC236}">
                <ns2:creationId id="{FB84195F-2078-48E4-8DD8-D8A2A47CE3A7}"/>
              </a:ext>
            </a:extLst>
          </p:cNvPr>
          <p:cNvSpPr>
            <a:spLocks noGrp="1"/>
          </p:cNvSpPr>
          <p:nvPr/>
        </p:nvSpPr>
        <p:spPr>
          <a:xfrm>
            <a:off x="11734800" y="857250"/>
            <a:ext cx="0" cy="97155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ns2:creationId id="{958B263A-D03E-4BC6-A375-645A5519D222}"/>
              </a:ext>
            </a:extLst>
          </p:cNvPr>
          <p:cNvSpPr>
            <a:spLocks noGrp="1"/>
          </p:cNvSpPr>
          <p:nvPr/>
        </p:nvSpPr>
        <p:spPr>
          <a:xfrm>
            <a:off x="552450" y="21050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Success rate across RoboMME tasks</a:t>
            </a:r>
          </a:p>
        </p:txBody>
      </p:sp>
      <p:sp>
        <p:nvSpPr>
          <p:cNvPr id="25" name="矩形: 圆角 24">
            <a:extLst>
              <a:ext uri="{FF2B5EF4-FFF2-40B4-BE49-F238E27FC236}">
                <ns2:creationId id="{EAD14BED-E5F7-4663-A17B-FBF8C097ED7C}"/>
              </a:ext>
            </a:extLst>
          </p:cNvPr>
          <p:cNvSpPr>
            <a:spLocks noGrp="1"/>
          </p:cNvSpPr>
          <p:nvPr/>
        </p:nvSpPr>
        <p:spPr>
          <a:xfrm>
            <a:off x="552450" y="2457450"/>
            <a:ext cx="7524750" cy="3171825"/>
          </a:xfrm>
          <a:prstGeom prst="roundRect">
            <a:avLst>
              <a:gd name="adj" fmla="val 2402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ns2:creationId id="{04F49A34-7E23-484A-A00D-AFCA2684492A}"/>
              </a:ext>
            </a:extLst>
          </p:cNvPr>
          <p:cNvSpPr>
            <a:spLocks noGrp="1"/>
          </p:cNvSpPr>
          <p:nvPr/>
        </p:nvSpPr>
        <p:spPr>
          <a:xfrm>
            <a:off x="1000125" y="5210175"/>
            <a:ext cx="6572250" cy="0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ns2:creationId id="{64FE2DAA-61F0-44DD-A473-C760D3C2FCDB}"/>
              </a:ext>
            </a:extLst>
          </p:cNvPr>
          <p:cNvSpPr>
            <a:spLocks noGrp="1"/>
          </p:cNvSpPr>
          <p:nvPr/>
        </p:nvSpPr>
        <p:spPr>
          <a:xfrm>
            <a:off x="1000125" y="2876550"/>
            <a:ext cx="0" cy="2333625"/>
          </a:xfrm>
          <a:prstGeom prst="line">
            <a:avLst/>
          </a:prstGeom>
          <a:noFill/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ns2:creationId id="{B9ACA70A-C780-43B8-8498-CD412D56EAC8}"/>
              </a:ext>
            </a:extLst>
          </p:cNvPr>
          <p:cNvSpPr>
            <a:spLocks noGrp="1"/>
          </p:cNvSpPr>
          <p:nvPr/>
        </p:nvSpPr>
        <p:spPr>
          <a:xfrm>
            <a:off x="1047750" y="47625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ns2:creationId id="{C97EFEC2-0426-432C-964B-FC78831E7915}"/>
              </a:ext>
            </a:extLst>
          </p:cNvPr>
          <p:cNvSpPr>
            <a:spLocks noGrp="1"/>
          </p:cNvSpPr>
          <p:nvPr/>
        </p:nvSpPr>
        <p:spPr>
          <a:xfrm>
            <a:off x="1828800" y="45529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ns2:creationId id="{CB0399B7-9066-4F8A-B749-F981937A4078}"/>
              </a:ext>
            </a:extLst>
          </p:cNvPr>
          <p:cNvSpPr>
            <a:spLocks noGrp="1"/>
          </p:cNvSpPr>
          <p:nvPr/>
        </p:nvSpPr>
        <p:spPr>
          <a:xfrm>
            <a:off x="2609850" y="43434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ns2:creationId id="{B76BB7D6-63DF-4EF6-9AB7-6A511F1FBF2E}"/>
              </a:ext>
            </a:extLst>
          </p:cNvPr>
          <p:cNvSpPr>
            <a:spLocks noGrp="1"/>
          </p:cNvSpPr>
          <p:nvPr/>
        </p:nvSpPr>
        <p:spPr>
          <a:xfrm>
            <a:off x="3390900" y="41338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ns2:creationId id="{9912135A-07E3-44CD-B7A7-F3D9505CB73D}"/>
              </a:ext>
            </a:extLst>
          </p:cNvPr>
          <p:cNvSpPr>
            <a:spLocks noGrp="1"/>
          </p:cNvSpPr>
          <p:nvPr/>
        </p:nvSpPr>
        <p:spPr>
          <a:xfrm>
            <a:off x="4171950" y="39243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直接连接符 32">
            <a:extLst>
              <a:ext uri="{FF2B5EF4-FFF2-40B4-BE49-F238E27FC236}">
                <ns2:creationId id="{F050FBCF-5B44-4D22-81C5-890E714044B3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ns2:creationId id="{2E82F8E0-B54F-4949-9231-B8814DBD5DAE}"/>
              </a:ext>
            </a:extLst>
          </p:cNvPr>
          <p:cNvSpPr>
            <a:spLocks noGrp="1"/>
          </p:cNvSpPr>
          <p:nvPr/>
        </p:nvSpPr>
        <p:spPr>
          <a:xfrm>
            <a:off x="5734050" y="350520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直接连接符 34">
            <a:extLst>
              <a:ext uri="{FF2B5EF4-FFF2-40B4-BE49-F238E27FC236}">
                <ns2:creationId id="{576F61A0-B817-44F3-B4DE-79581FFE58B9}"/>
              </a:ext>
            </a:extLst>
          </p:cNvPr>
          <p:cNvSpPr>
            <a:spLocks noGrp="1"/>
          </p:cNvSpPr>
          <p:nvPr/>
        </p:nvSpPr>
        <p:spPr>
          <a:xfrm>
            <a:off x="6515100" y="3295650"/>
            <a:ext cx="78105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ns2:creationId id="{69FA2C72-B2E7-4E34-AFAC-58C6B9E12306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直接连接符 36">
            <a:extLst>
              <a:ext uri="{FF2B5EF4-FFF2-40B4-BE49-F238E27FC236}">
                <ns2:creationId id="{8E16F37B-0535-4BE1-9723-BB9BA0D90838}"/>
              </a:ext>
            </a:extLst>
          </p:cNvPr>
          <p:cNvSpPr>
            <a:spLocks noGrp="1"/>
          </p:cNvSpPr>
          <p:nvPr/>
        </p:nvSpPr>
        <p:spPr>
          <a:xfrm>
            <a:off x="1828800" y="41243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ns2:creationId id="{8F669F0A-8658-4301-80B8-A8D9AD358A12}"/>
              </a:ext>
            </a:extLst>
          </p:cNvPr>
          <p:cNvSpPr>
            <a:spLocks noGrp="1"/>
          </p:cNvSpPr>
          <p:nvPr/>
        </p:nvSpPr>
        <p:spPr>
          <a:xfrm>
            <a:off x="2609850" y="39147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ns2:creationId id="{C6FC9AC9-2C2E-4E66-BE9C-64033CFBCB07}"/>
              </a:ext>
            </a:extLst>
          </p:cNvPr>
          <p:cNvSpPr>
            <a:spLocks noGrp="1"/>
          </p:cNvSpPr>
          <p:nvPr/>
        </p:nvSpPr>
        <p:spPr>
          <a:xfrm>
            <a:off x="3390900" y="37052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直接连接符 39">
            <a:extLst>
              <a:ext uri="{FF2B5EF4-FFF2-40B4-BE49-F238E27FC236}">
                <ns2:creationId id="{6F07D84D-4B60-447A-929F-8EA61CADB53B}"/>
              </a:ext>
            </a:extLst>
          </p:cNvPr>
          <p:cNvSpPr>
            <a:spLocks noGrp="1"/>
          </p:cNvSpPr>
          <p:nvPr/>
        </p:nvSpPr>
        <p:spPr>
          <a:xfrm>
            <a:off x="4171950" y="34956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直接连接符 40">
            <a:extLst>
              <a:ext uri="{FF2B5EF4-FFF2-40B4-BE49-F238E27FC236}">
                <ns2:creationId id="{EF834A71-3471-40D9-98FF-942BD30C9339}"/>
              </a:ext>
            </a:extLst>
          </p:cNvPr>
          <p:cNvSpPr>
            <a:spLocks noGrp="1"/>
          </p:cNvSpPr>
          <p:nvPr/>
        </p:nvSpPr>
        <p:spPr>
          <a:xfrm>
            <a:off x="4953000" y="32861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ns2:creationId id="{38BBCACF-876D-4E3F-A3F2-94B24EE0E24B}"/>
              </a:ext>
            </a:extLst>
          </p:cNvPr>
          <p:cNvSpPr>
            <a:spLocks noGrp="1"/>
          </p:cNvSpPr>
          <p:nvPr/>
        </p:nvSpPr>
        <p:spPr>
          <a:xfrm>
            <a:off x="5734050" y="307657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直接连接符 42">
            <a:extLst>
              <a:ext uri="{FF2B5EF4-FFF2-40B4-BE49-F238E27FC236}">
                <ns2:creationId id="{0DEE03C9-8C10-445A-8F8E-1BBF35E2AEC1}"/>
              </a:ext>
            </a:extLst>
          </p:cNvPr>
          <p:cNvSpPr>
            <a:spLocks noGrp="1"/>
          </p:cNvSpPr>
          <p:nvPr/>
        </p:nvSpPr>
        <p:spPr>
          <a:xfrm>
            <a:off x="6515100" y="2867025"/>
            <a:ext cx="781050" cy="0"/>
          </a:xfrm>
          <a:prstGeom prst="line">
            <a:avLst/>
          </a:prstGeom>
          <a:noFill/>
          <a:ln w="19050">
            <a:solidFill>
              <a:srgbClr val="85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直接连接符 43">
            <a:extLst>
              <a:ext uri="{FF2B5EF4-FFF2-40B4-BE49-F238E27FC236}">
                <ns2:creationId id="{7278CC35-A81E-4AC9-B149-9018DEB127C4}"/>
              </a:ext>
            </a:extLst>
          </p:cNvPr>
          <p:cNvSpPr>
            <a:spLocks noGrp="1"/>
          </p:cNvSpPr>
          <p:nvPr/>
        </p:nvSpPr>
        <p:spPr>
          <a:xfrm>
            <a:off x="1047750" y="39528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直接连接符 44">
            <a:extLst>
              <a:ext uri="{FF2B5EF4-FFF2-40B4-BE49-F238E27FC236}">
                <ns2:creationId id="{C0F033FA-609B-49D5-9503-F4CDB0661DCD}"/>
              </a:ext>
            </a:extLst>
          </p:cNvPr>
          <p:cNvSpPr>
            <a:spLocks noGrp="1"/>
          </p:cNvSpPr>
          <p:nvPr/>
        </p:nvSpPr>
        <p:spPr>
          <a:xfrm>
            <a:off x="1828800" y="37433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直接连接符 45">
            <a:extLst>
              <a:ext uri="{FF2B5EF4-FFF2-40B4-BE49-F238E27FC236}">
                <ns2:creationId id="{13DFF2E2-5103-44D1-9293-9AED7E6ABAEA}"/>
              </a:ext>
            </a:extLst>
          </p:cNvPr>
          <p:cNvSpPr>
            <a:spLocks noGrp="1"/>
          </p:cNvSpPr>
          <p:nvPr/>
        </p:nvSpPr>
        <p:spPr>
          <a:xfrm>
            <a:off x="2609850" y="35337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直接连接符 46">
            <a:extLst>
              <a:ext uri="{FF2B5EF4-FFF2-40B4-BE49-F238E27FC236}">
                <ns2:creationId id="{1F621C8E-78BD-4BA0-B439-A9AA4F207FA6}"/>
              </a:ext>
            </a:extLst>
          </p:cNvPr>
          <p:cNvSpPr>
            <a:spLocks noGrp="1"/>
          </p:cNvSpPr>
          <p:nvPr/>
        </p:nvSpPr>
        <p:spPr>
          <a:xfrm>
            <a:off x="3390900" y="33242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直接连接符 47">
            <a:extLst>
              <a:ext uri="{FF2B5EF4-FFF2-40B4-BE49-F238E27FC236}">
                <ns2:creationId id="{3EB7D1F9-C437-409C-8002-85BAD9C5683F}"/>
              </a:ext>
            </a:extLst>
          </p:cNvPr>
          <p:cNvSpPr>
            <a:spLocks noGrp="1"/>
          </p:cNvSpPr>
          <p:nvPr/>
        </p:nvSpPr>
        <p:spPr>
          <a:xfrm>
            <a:off x="4171950" y="31146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直接连接符 48">
            <a:extLst>
              <a:ext uri="{FF2B5EF4-FFF2-40B4-BE49-F238E27FC236}">
                <ns2:creationId id="{C2371F63-23A1-4A5A-AE11-C7297A8B573B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直接连接符 49">
            <a:extLst>
              <a:ext uri="{FF2B5EF4-FFF2-40B4-BE49-F238E27FC236}">
                <ns2:creationId id="{29650DE7-01E3-43C9-913B-6296508AD64F}"/>
              </a:ext>
            </a:extLst>
          </p:cNvPr>
          <p:cNvSpPr>
            <a:spLocks noGrp="1"/>
          </p:cNvSpPr>
          <p:nvPr/>
        </p:nvSpPr>
        <p:spPr>
          <a:xfrm>
            <a:off x="5734050" y="269557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直接连接符 50">
            <a:extLst>
              <a:ext uri="{FF2B5EF4-FFF2-40B4-BE49-F238E27FC236}">
                <ns2:creationId id="{0EFFB4C2-6A66-4B3A-9076-4D586229BF44}"/>
              </a:ext>
            </a:extLst>
          </p:cNvPr>
          <p:cNvSpPr>
            <a:spLocks noGrp="1"/>
          </p:cNvSpPr>
          <p:nvPr/>
        </p:nvSpPr>
        <p:spPr>
          <a:xfrm>
            <a:off x="6515100" y="2486025"/>
            <a:ext cx="781050" cy="0"/>
          </a:xfrm>
          <a:prstGeom prst="line">
            <a:avLst/>
          </a:prstGeom>
          <a:noFill/>
          <a:ln w="19050">
            <a:solidFill>
              <a:srgbClr val="B6B8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ns2:creationId id="{7323D68F-94EA-4796-974A-84DD401C7435}"/>
              </a:ext>
            </a:extLst>
          </p:cNvPr>
          <p:cNvSpPr>
            <a:spLocks noGrp="1"/>
          </p:cNvSpPr>
          <p:nvPr/>
        </p:nvSpPr>
        <p:spPr>
          <a:xfrm>
            <a:off x="3286125" y="528637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method variant</a:t>
            </a:r>
          </a:p>
        </p:txBody>
      </p:sp>
      <p:sp>
        <p:nvSpPr>
          <p:cNvPr id="53" name="矩形 52">
            <a:extLst>
              <a:ext uri="{FF2B5EF4-FFF2-40B4-BE49-F238E27FC236}">
                <ns2:creationId id="{8BA61D5E-F1C1-4842-BE22-DB52B9009302}"/>
              </a:ext>
            </a:extLst>
          </p:cNvPr>
          <p:cNvSpPr>
            <a:spLocks noGrp="1"/>
          </p:cNvSpPr>
          <p:nvPr/>
        </p:nvSpPr>
        <p:spPr>
          <a:xfrm>
            <a:off x="8524875" y="2457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A51C30"/>
                </a:solidFill>
              </a:defRPr>
            </a:pPr>
            <a:r>
              <a:rPr sz="975" b="1">
                <a:solidFill>
                  <a:srgbClr val="A51C30"/>
                </a:solidFill>
              </a:rPr>
              <a:t>KEY TAKEAWAY</a:t>
            </a:r>
          </a:p>
        </p:txBody>
      </p:sp>
      <p:sp>
        <p:nvSpPr>
          <p:cNvPr id="54" name="矩形 53">
            <a:extLst>
              <a:ext uri="{FF2B5EF4-FFF2-40B4-BE49-F238E27FC236}">
                <ns2:creationId id="{782A02AF-1DF1-41AA-98CA-0C3B2376D0F8}"/>
              </a:ext>
            </a:extLst>
          </p:cNvPr>
          <p:cNvSpPr>
            <a:spLocks noGrp="1"/>
          </p:cNvSpPr>
          <p:nvPr/>
        </p:nvSpPr>
        <p:spPr>
          <a:xfrm>
            <a:off x="8524875" y="2781300"/>
            <a:ext cx="2714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MovieChat memory is not automatically useful for control.</a:t>
            </a:r>
          </a:p>
        </p:txBody>
      </p:sp>
      <p:sp>
        <p:nvSpPr>
          <p:cNvPr id="55" name="矩形 54">
            <a:extLst>
              <a:ext uri="{FF2B5EF4-FFF2-40B4-BE49-F238E27FC236}">
                <ns2:creationId id="{C1520A29-9815-45CD-972E-35E40D2242E4}"/>
              </a:ext>
            </a:extLst>
          </p:cNvPr>
          <p:cNvSpPr>
            <a:spLocks noGrp="1"/>
          </p:cNvSpPr>
          <p:nvPr/>
        </p:nvSpPr>
        <p:spPr>
          <a:xfrm>
            <a:off x="8524875" y="3886200"/>
            <a:ext cx="2714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The modulation interface underperforms baseline despite stable training; memory-as-context is the next decisive test.</a:t>
            </a:r>
          </a:p>
        </p:txBody>
      </p:sp>
      <p:sp>
        <p:nvSpPr>
          <p:cNvPr id="56" name="直接连接符 55">
            <a:extLst>
              <a:ext uri="{FF2B5EF4-FFF2-40B4-BE49-F238E27FC236}">
                <ns2:creationId id="{2BBC0108-45A5-4EA9-AC8F-42C0ED465822}"/>
              </a:ext>
            </a:extLst>
          </p:cNvPr>
          <p:cNvSpPr>
            <a:spLocks noGrp="1"/>
          </p:cNvSpPr>
          <p:nvPr/>
        </p:nvSpPr>
        <p:spPr>
          <a:xfrm>
            <a:off x="8524875" y="4857750"/>
            <a:ext cx="26670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矩形 56">
            <a:extLst>
              <a:ext uri="{FF2B5EF4-FFF2-40B4-BE49-F238E27FC236}">
                <ns2:creationId id="{C74D57A2-2944-402B-94AE-79FC9A858884}"/>
              </a:ext>
            </a:extLst>
          </p:cNvPr>
          <p:cNvSpPr>
            <a:spLocks noGrp="1"/>
          </p:cNvSpPr>
          <p:nvPr/>
        </p:nvSpPr>
        <p:spPr>
          <a:xfrm>
            <a:off x="8524875" y="5048250"/>
            <a:ext cx="2667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6B6B68"/>
                </a:solidFill>
              </a:defRPr>
            </a:pPr>
            <a:r>
              <a:rPr sz="900" b="0">
                <a:solidFill>
                  <a:srgbClr val="6B6B68"/>
                </a:solidFill>
              </a:rPr>
              <a:t>●  Recurrent TTT   ─  pi0.5 baseline   ─  MovieChat modulation</a:t>
            </a:r>
          </a:p>
        </p:txBody>
      </p:sp>
    </p:spTree>
    <p:extLst>
      <p:ext uri="{BB962C8B-B14F-4D97-AF65-F5344CB8AC3E}">
        <ns3:creationId val="9018067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ns2:creationId id="{805FBD54-292F-42E5-9E3D-93738B0DF9E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B03C2E69-A8E4-4B90-9105-EF674E17766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Qualitative Results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4928283A-119C-44B4-AD6C-62AAA36B945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69C16294-DC92-43BA-9232-AFF4B03B201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F7D4633F-60BE-47FD-81AF-765C99661B8A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854AC069-155B-4BB0-BC7F-4C2185FA34E8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C7211D64-9B42-4EC7-81B1-11D8A517809D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8" name="矩形 7">
            <a:extLst>
              <a:ext uri="{FF2B5EF4-FFF2-40B4-BE49-F238E27FC236}">
                <ns2:creationId id="{FEE776D0-98DD-4C98-B1CE-1BD0955D9118}"/>
              </a:ext>
            </a:extLst>
          </p:cNvPr>
          <p:cNvSpPr>
            <a:spLocks noGrp="1"/>
          </p:cNvSpPr>
          <p:nvPr/>
        </p:nvSpPr>
        <p:spPr>
          <a:xfrm>
            <a:off x="552450" y="8572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INITIAL STATE</a:t>
            </a:r>
          </a:p>
        </p:txBody>
      </p:sp>
      <p:sp>
        <p:nvSpPr>
          <p:cNvPr id="9" name="矩形 8">
            <a:extLst>
              <a:ext uri="{FF2B5EF4-FFF2-40B4-BE49-F238E27FC236}">
                <ns2:creationId id="{EB46F1C5-6B5F-414B-BF0E-30D4B9FC9B16}"/>
              </a:ext>
            </a:extLst>
          </p:cNvPr>
          <p:cNvSpPr>
            <a:spLocks noGrp="1"/>
          </p:cNvSpPr>
          <p:nvPr/>
        </p:nvSpPr>
        <p:spPr>
          <a:xfrm>
            <a:off x="2400300" y="85725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INSTRUCTION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F6DF8ED3-843A-48FC-99B8-C8C3B692D57D}"/>
              </a:ext>
            </a:extLst>
          </p:cNvPr>
          <p:cNvSpPr>
            <a:spLocks noGrp="1"/>
          </p:cNvSpPr>
          <p:nvPr/>
        </p:nvSpPr>
        <p:spPr>
          <a:xfrm>
            <a:off x="4705350" y="857250"/>
            <a:ext cx="4857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EXECUTION / ROLLOUT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BDE3B756-5F1E-40E1-BE22-433E000DF4FD}"/>
              </a:ext>
            </a:extLst>
          </p:cNvPr>
          <p:cNvSpPr>
            <a:spLocks noGrp="1"/>
          </p:cNvSpPr>
          <p:nvPr/>
        </p:nvSpPr>
        <p:spPr>
          <a:xfrm>
            <a:off x="9829800" y="857250"/>
            <a:ext cx="1619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1">
                <a:solidFill>
                  <a:srgbClr val="171717"/>
                </a:solidFill>
              </a:defRPr>
            </a:pPr>
            <a:r>
              <a:rPr sz="825" b="1">
                <a:solidFill>
                  <a:srgbClr val="171717"/>
                </a:solidFill>
              </a:rPr>
              <a:t>RESULT</a:t>
            </a:r>
          </a:p>
        </p:txBody>
      </p:sp>
      <p:sp>
        <p:nvSpPr>
          <p:cNvPr id="12" name="矩形: 圆角 11">
            <a:extLst>
              <a:ext uri="{FF2B5EF4-FFF2-40B4-BE49-F238E27FC236}">
                <ns2:creationId id="{BBAD4979-226C-4873-A53A-4C1724A4339E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>
            <a:extLst>
              <a:ext uri="{FF2B5EF4-FFF2-40B4-BE49-F238E27FC236}">
                <ns2:creationId id="{9305C0BF-D413-466E-93F9-DECC0B85A011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VideoPlaceOrder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446573EA-C292-470C-B92F-76663724B3ED}"/>
              </a:ext>
            </a:extLst>
          </p:cNvPr>
          <p:cNvSpPr>
            <a:spLocks noGrp="1"/>
          </p:cNvSpPr>
          <p:nvPr/>
        </p:nvSpPr>
        <p:spPr>
          <a:xfrm>
            <a:off x="2400300" y="12192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>
            <a:extLst>
              <a:ext uri="{FF2B5EF4-FFF2-40B4-BE49-F238E27FC236}">
                <ns2:creationId id="{CEF2C085-43A7-40D0-AF17-167032D7E342}"/>
              </a:ext>
            </a:extLst>
          </p:cNvPr>
          <p:cNvSpPr>
            <a:spLocks noGrp="1"/>
          </p:cNvSpPr>
          <p:nvPr/>
        </p:nvSpPr>
        <p:spPr>
          <a:xfrm>
            <a:off x="2571750" y="14478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“Watch the video, then place objects in the same order.”</a:t>
            </a:r>
          </a:p>
        </p:txBody>
      </p:sp>
      <p:sp>
        <p:nvSpPr>
          <p:cNvPr id="16" name="矩形: 圆角 15">
            <a:extLst>
              <a:ext uri="{FF2B5EF4-FFF2-40B4-BE49-F238E27FC236}">
                <ns2:creationId id="{7E43CBDC-F12B-44BF-BDB8-A8C83234E40C}"/>
              </a:ext>
            </a:extLst>
          </p:cNvPr>
          <p:cNvSpPr>
            <a:spLocks noGrp="1"/>
          </p:cNvSpPr>
          <p:nvPr/>
        </p:nvSpPr>
        <p:spPr>
          <a:xfrm>
            <a:off x="470535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ns2:creationId id="{F119E671-F3D5-4047-BA10-0A0A7D9BBFD1}"/>
              </a:ext>
            </a:extLst>
          </p:cNvPr>
          <p:cNvSpPr>
            <a:spLocks noGrp="1"/>
          </p:cNvSpPr>
          <p:nvPr/>
        </p:nvSpPr>
        <p:spPr>
          <a:xfrm>
            <a:off x="470535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demo frame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26D10450-11AF-4858-BCB9-B9EF26F96843}"/>
              </a:ext>
            </a:extLst>
          </p:cNvPr>
          <p:cNvSpPr>
            <a:spLocks noGrp="1"/>
          </p:cNvSpPr>
          <p:nvPr/>
        </p:nvSpPr>
        <p:spPr>
          <a:xfrm>
            <a:off x="632460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矩形 18">
            <a:extLst>
              <a:ext uri="{FF2B5EF4-FFF2-40B4-BE49-F238E27FC236}">
                <ns2:creationId id="{74358415-8512-4F49-8AEF-690F33DAE919}"/>
              </a:ext>
            </a:extLst>
          </p:cNvPr>
          <p:cNvSpPr>
            <a:spLocks noGrp="1"/>
          </p:cNvSpPr>
          <p:nvPr/>
        </p:nvSpPr>
        <p:spPr>
          <a:xfrm>
            <a:off x="632460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policy rollout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817BA1E9-D19C-4D28-9D5F-8039C04AD57F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ns2:creationId id="{C25AFF67-C160-4692-9C66-0DC5E143953A}"/>
              </a:ext>
            </a:extLst>
          </p:cNvPr>
          <p:cNvSpPr>
            <a:spLocks noGrp="1"/>
          </p:cNvSpPr>
          <p:nvPr/>
        </p:nvSpPr>
        <p:spPr>
          <a:xfrm>
            <a:off x="7943850" y="12192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final state</a:t>
            </a:r>
          </a:p>
        </p:txBody>
      </p:sp>
      <p:sp>
        <p:nvSpPr>
          <p:cNvPr id="22" name="矩形: 圆角 21">
            <a:extLst>
              <a:ext uri="{FF2B5EF4-FFF2-40B4-BE49-F238E27FC236}">
                <ns2:creationId id="{30477EB8-22F9-4D12-9A43-3E4C617DD361}"/>
              </a:ext>
            </a:extLst>
          </p:cNvPr>
          <p:cNvSpPr>
            <a:spLocks noGrp="1"/>
          </p:cNvSpPr>
          <p:nvPr/>
        </p:nvSpPr>
        <p:spPr>
          <a:xfrm>
            <a:off x="9829800" y="12192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矩形 22">
            <a:extLst>
              <a:ext uri="{FF2B5EF4-FFF2-40B4-BE49-F238E27FC236}">
                <ns2:creationId id="{E59F6397-868E-4BE2-90C5-917E78AD6327}"/>
              </a:ext>
            </a:extLst>
          </p:cNvPr>
          <p:cNvSpPr>
            <a:spLocks noGrp="1"/>
          </p:cNvSpPr>
          <p:nvPr/>
        </p:nvSpPr>
        <p:spPr>
          <a:xfrm>
            <a:off x="9829800" y="12192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MovieChat: partial success / unstable grounding</a:t>
            </a:r>
          </a:p>
        </p:txBody>
      </p:sp>
      <p:sp>
        <p:nvSpPr>
          <p:cNvPr id="24" name="矩形: 圆角 23">
            <a:extLst>
              <a:ext uri="{FF2B5EF4-FFF2-40B4-BE49-F238E27FC236}">
                <ns2:creationId id="{D831A0BF-0E7F-4A3B-802E-ED9E50D690E2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矩形 24">
            <a:extLst>
              <a:ext uri="{FF2B5EF4-FFF2-40B4-BE49-F238E27FC236}">
                <ns2:creationId id="{CCD67025-B75C-4B0C-98AD-FA998CF4510B}"/>
              </a:ext>
            </a:extLst>
          </p:cNvPr>
          <p:cNvSpPr>
            <a:spLocks noGrp="1"/>
          </p:cNvSpPr>
          <p:nvPr/>
        </p:nvSpPr>
        <p:spPr>
          <a:xfrm>
            <a:off x="552450" y="27813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BinFill</a:t>
            </a:r>
          </a:p>
        </p:txBody>
      </p:sp>
      <p:sp>
        <p:nvSpPr>
          <p:cNvPr id="26" name="矩形: 圆角 25">
            <a:extLst>
              <a:ext uri="{FF2B5EF4-FFF2-40B4-BE49-F238E27FC236}">
                <ns2:creationId id="{B68B2040-5FFB-421E-8157-F63D2B63E831}"/>
              </a:ext>
            </a:extLst>
          </p:cNvPr>
          <p:cNvSpPr>
            <a:spLocks noGrp="1"/>
          </p:cNvSpPr>
          <p:nvPr/>
        </p:nvSpPr>
        <p:spPr>
          <a:xfrm>
            <a:off x="2400300" y="27813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>
            <a:extLst>
              <a:ext uri="{FF2B5EF4-FFF2-40B4-BE49-F238E27FC236}">
                <ns2:creationId id="{EE41CCA6-C668-4391-8CE4-F51381C55867}"/>
              </a:ext>
            </a:extLst>
          </p:cNvPr>
          <p:cNvSpPr>
            <a:spLocks noGrp="1"/>
          </p:cNvSpPr>
          <p:nvPr/>
        </p:nvSpPr>
        <p:spPr>
          <a:xfrm>
            <a:off x="2571750" y="30099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“Fill the bin with the target object.”</a:t>
            </a:r>
          </a:p>
        </p:txBody>
      </p:sp>
      <p:sp>
        <p:nvSpPr>
          <p:cNvPr id="28" name="矩形: 圆角 27">
            <a:extLst>
              <a:ext uri="{FF2B5EF4-FFF2-40B4-BE49-F238E27FC236}">
                <ns2:creationId id="{B82E39B6-E84B-4DE8-B627-406B351A206F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矩形 28">
            <a:extLst>
              <a:ext uri="{FF2B5EF4-FFF2-40B4-BE49-F238E27FC236}">
                <ns2:creationId id="{D9E26C98-759D-486E-9786-5E35D9E633E6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initial scene</a:t>
            </a:r>
          </a:p>
        </p:txBody>
      </p:sp>
      <p:sp>
        <p:nvSpPr>
          <p:cNvPr id="30" name="矩形: 圆角 29">
            <a:extLst>
              <a:ext uri="{FF2B5EF4-FFF2-40B4-BE49-F238E27FC236}">
                <ns2:creationId id="{BDB4AE64-173B-4BA9-A179-79E901110900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矩形 30">
            <a:extLst>
              <a:ext uri="{FF2B5EF4-FFF2-40B4-BE49-F238E27FC236}">
                <ns2:creationId id="{ADC9614F-F895-4114-93E5-DD4A575B2594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grasp attempt</a:t>
            </a:r>
          </a:p>
        </p:txBody>
      </p:sp>
      <p:sp>
        <p:nvSpPr>
          <p:cNvPr id="32" name="矩形: 圆角 31">
            <a:extLst>
              <a:ext uri="{FF2B5EF4-FFF2-40B4-BE49-F238E27FC236}">
                <ns2:creationId id="{75B79991-D6CE-47D9-BEB6-10053A101698}"/>
              </a:ext>
            </a:extLst>
          </p:cNvPr>
          <p:cNvSpPr>
            <a:spLocks noGrp="1"/>
          </p:cNvSpPr>
          <p:nvPr/>
        </p:nvSpPr>
        <p:spPr>
          <a:xfrm>
            <a:off x="7943850" y="27813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矩形 32">
            <a:extLst>
              <a:ext uri="{FF2B5EF4-FFF2-40B4-BE49-F238E27FC236}">
                <ns2:creationId id="{15EEF295-224B-4884-975F-A16D8E24430C}"/>
              </a:ext>
            </a:extLst>
          </p:cNvPr>
          <p:cNvSpPr>
            <a:spLocks noGrp="1"/>
          </p:cNvSpPr>
          <p:nvPr/>
        </p:nvSpPr>
        <p:spPr>
          <a:xfrm>
            <a:off x="7943850" y="27813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bin approach</a:t>
            </a:r>
          </a:p>
        </p:txBody>
      </p:sp>
      <p:sp>
        <p:nvSpPr>
          <p:cNvPr id="34" name="矩形: 圆角 33">
            <a:extLst>
              <a:ext uri="{FF2B5EF4-FFF2-40B4-BE49-F238E27FC236}">
                <ns2:creationId id="{8BE1B2A3-0520-4064-B29D-3D9A34ED4615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矩形 34">
            <a:extLst>
              <a:ext uri="{FF2B5EF4-FFF2-40B4-BE49-F238E27FC236}">
                <ns2:creationId id="{A2FB124B-9092-437A-9716-80BB288E4454}"/>
              </a:ext>
            </a:extLst>
          </p:cNvPr>
          <p:cNvSpPr>
            <a:spLocks noGrp="1"/>
          </p:cNvSpPr>
          <p:nvPr/>
        </p:nvSpPr>
        <p:spPr>
          <a:xfrm>
            <a:off x="9829800" y="27813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MovieChat below baseline</a:t>
            </a:r>
          </a:p>
        </p:txBody>
      </p:sp>
      <p:sp>
        <p:nvSpPr>
          <p:cNvPr id="36" name="矩形: 圆角 35">
            <a:extLst>
              <a:ext uri="{FF2B5EF4-FFF2-40B4-BE49-F238E27FC236}">
                <ns2:creationId id="{A78D1BE9-19A5-4667-A7B3-E912E6E5986C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矩形 36">
            <a:extLst>
              <a:ext uri="{FF2B5EF4-FFF2-40B4-BE49-F238E27FC236}">
                <ns2:creationId id="{7E2A2746-3E35-4A6C-A053-302EFA7E0343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9A9A96"/>
                </a:solidFill>
              </a:defRPr>
            </a:pPr>
            <a:r>
              <a:rPr sz="1125" b="1">
                <a:solidFill>
                  <a:srgbClr val="9A9A96"/>
                </a:solidFill>
              </a:rPr>
              <a:t>RouteStick</a:t>
            </a:r>
          </a:p>
        </p:txBody>
      </p:sp>
      <p:sp>
        <p:nvSpPr>
          <p:cNvPr id="38" name="矩形: 圆角 37">
            <a:extLst>
              <a:ext uri="{FF2B5EF4-FFF2-40B4-BE49-F238E27FC236}">
                <ns2:creationId id="{D03CCC74-7B61-4903-B93F-62814AA71762}"/>
              </a:ext>
            </a:extLst>
          </p:cNvPr>
          <p:cNvSpPr>
            <a:spLocks noGrp="1"/>
          </p:cNvSpPr>
          <p:nvPr/>
        </p:nvSpPr>
        <p:spPr>
          <a:xfrm>
            <a:off x="2400300" y="4343400"/>
            <a:ext cx="2095500" cy="1314450"/>
          </a:xfrm>
          <a:prstGeom prst="roundRect">
            <a:avLst>
              <a:gd name="adj" fmla="val 5797"/>
            </a:avLst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矩形 38">
            <a:extLst>
              <a:ext uri="{FF2B5EF4-FFF2-40B4-BE49-F238E27FC236}">
                <ns2:creationId id="{233C71B9-8671-4B8D-87B9-6B94D531FA76}"/>
              </a:ext>
            </a:extLst>
          </p:cNvPr>
          <p:cNvSpPr>
            <a:spLocks noGrp="1"/>
          </p:cNvSpPr>
          <p:nvPr/>
        </p:nvSpPr>
        <p:spPr>
          <a:xfrm>
            <a:off x="2571750" y="4572000"/>
            <a:ext cx="17526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171717"/>
                </a:solidFill>
              </a:defRPr>
            </a:pPr>
            <a:r>
              <a:rPr sz="1125" b="0">
                <a:solidFill>
                  <a:srgbClr val="171717"/>
                </a:solidFill>
              </a:rPr>
              <a:t>“Follow the demonstrated path with the stick.”</a:t>
            </a:r>
          </a:p>
        </p:txBody>
      </p:sp>
      <p:sp>
        <p:nvSpPr>
          <p:cNvPr id="40" name="矩形: 圆角 39">
            <a:extLst>
              <a:ext uri="{FF2B5EF4-FFF2-40B4-BE49-F238E27FC236}">
                <ns2:creationId id="{1FBBFBAF-2E46-42F7-93A2-56CA4A9D46CA}"/>
              </a:ext>
            </a:extLst>
          </p:cNvPr>
          <p:cNvSpPr>
            <a:spLocks noGrp="1"/>
          </p:cNvSpPr>
          <p:nvPr/>
        </p:nvSpPr>
        <p:spPr>
          <a:xfrm>
            <a:off x="470535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矩形 40">
            <a:extLst>
              <a:ext uri="{FF2B5EF4-FFF2-40B4-BE49-F238E27FC236}">
                <ns2:creationId id="{16CAF37D-0D16-48D5-A1F2-19602944B3DA}"/>
              </a:ext>
            </a:extLst>
          </p:cNvPr>
          <p:cNvSpPr>
            <a:spLocks noGrp="1"/>
          </p:cNvSpPr>
          <p:nvPr/>
        </p:nvSpPr>
        <p:spPr>
          <a:xfrm>
            <a:off x="470535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path cue</a:t>
            </a:r>
          </a:p>
        </p:txBody>
      </p:sp>
      <p:sp>
        <p:nvSpPr>
          <p:cNvPr id="42" name="矩形: 圆角 41">
            <a:extLst>
              <a:ext uri="{FF2B5EF4-FFF2-40B4-BE49-F238E27FC236}">
                <ns2:creationId id="{C4E3D282-7BB8-46B6-A0DC-72464909A99C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ns2:creationId id="{C3F08341-2212-4E27-B78C-728904F0E9AA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trajectory</a:t>
            </a:r>
          </a:p>
        </p:txBody>
      </p:sp>
      <p:sp>
        <p:nvSpPr>
          <p:cNvPr id="44" name="矩形: 圆角 43">
            <a:extLst>
              <a:ext uri="{FF2B5EF4-FFF2-40B4-BE49-F238E27FC236}">
                <ns2:creationId id="{0812C3B9-EDA8-4C4E-BDA3-56E830E3A713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466850" cy="1314450"/>
          </a:xfrm>
          <a:prstGeom prst="roundRect">
            <a:avLst>
              <a:gd name="adj" fmla="val 5797"/>
            </a:avLst>
          </a:prstGeom>
          <a:solidFill>
            <a:srgbClr val="EEEAE2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矩形 44">
            <a:extLst>
              <a:ext uri="{FF2B5EF4-FFF2-40B4-BE49-F238E27FC236}">
                <ns2:creationId id="{CB59296C-4728-44FF-8027-78416EF1B4A8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4668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00" b="1">
                <a:solidFill>
                  <a:srgbClr val="9A9A96"/>
                </a:solidFill>
              </a:defRPr>
            </a:pPr>
            <a:r>
              <a:rPr sz="900" b="1">
                <a:solidFill>
                  <a:srgbClr val="9A9A96"/>
                </a:solidFill>
              </a:rPr>
              <a:t>collision / miss</a:t>
            </a:r>
          </a:p>
        </p:txBody>
      </p:sp>
      <p:sp>
        <p:nvSpPr>
          <p:cNvPr id="46" name="矩形: 圆角 45">
            <a:extLst>
              <a:ext uri="{FF2B5EF4-FFF2-40B4-BE49-F238E27FC236}">
                <ns2:creationId id="{C976FB74-378F-445C-AB80-889916F7BE68}"/>
              </a:ext>
            </a:extLst>
          </p:cNvPr>
          <p:cNvSpPr>
            <a:spLocks noGrp="1"/>
          </p:cNvSpPr>
          <p:nvPr/>
        </p:nvSpPr>
        <p:spPr>
          <a:xfrm>
            <a:off x="9829800" y="4343400"/>
            <a:ext cx="1619250" cy="1314450"/>
          </a:xfrm>
          <a:prstGeom prst="roundRect">
            <a:avLst>
              <a:gd name="adj" fmla="val 5797"/>
            </a:avLst>
          </a:prstGeom>
          <a:solidFill>
            <a:srgbClr val="E7F4F3"/>
          </a:solidFill>
          <a:ln w="9525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矩形 46">
            <a:extLst>
              <a:ext uri="{FF2B5EF4-FFF2-40B4-BE49-F238E27FC236}">
                <ns2:creationId id="{D6566695-7404-498A-8DBB-7FCEC0CFA41F}"/>
              </a:ext>
            </a:extLst>
          </p:cNvPr>
          <p:cNvSpPr>
            <a:spLocks noGrp="1"/>
          </p:cNvSpPr>
          <p:nvPr/>
        </p:nvSpPr>
        <p:spPr>
          <a:xfrm>
            <a:off x="9829800" y="4343400"/>
            <a:ext cx="161925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17A7B8"/>
                </a:solidFill>
              </a:defRPr>
            </a:pPr>
            <a:r>
              <a:rPr sz="1050" b="1">
                <a:solidFill>
                  <a:srgbClr val="17A7B8"/>
                </a:solidFill>
              </a:rPr>
              <a:t>memory not reliably used</a:t>
            </a:r>
          </a:p>
        </p:txBody>
      </p:sp>
    </p:spTree>
    <p:extLst>
      <p:ext uri="{BB962C8B-B14F-4D97-AF65-F5344CB8AC3E}">
        <ns3:creationId val="173166433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>
            <a:extLst>
              <a:ext uri="{FF2B5EF4-FFF2-40B4-BE49-F238E27FC236}">
                <ns2:creationId id="{4ED6BEB5-7255-43DA-982F-8DEE90C3817A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D171DCD7-B96B-4388-AF46-DD8613A76F9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Ablations &amp; Comparisons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35FA68D6-4D58-4125-B3F9-2E592FEAFE48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9708FD32-4B2B-402D-B4E6-A27BB3913F81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8F3BE8D6-CEAA-4BDC-91D6-50858FF4EF7C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E82FBF3A-0BE5-4F07-9BB7-7EBDB2C8E9FE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941A9D16-E48F-428D-AA8C-44BBC184EF84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矩形 7">
            <a:extLst>
              <a:ext uri="{FF2B5EF4-FFF2-40B4-BE49-F238E27FC236}">
                <ns2:creationId id="{75D82942-3953-4C9F-AFC8-FC5EBEA6EABF}"/>
              </a:ext>
            </a:extLst>
          </p:cNvPr>
          <p:cNvSpPr>
            <a:spLocks noGrp="1"/>
          </p:cNvSpPr>
          <p:nvPr/>
        </p:nvSpPr>
        <p:spPr>
          <a:xfrm>
            <a:off x="552450" y="8382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B6B68"/>
                </a:solidFill>
              </a:defRPr>
            </a:pPr>
            <a:r>
              <a:rPr sz="1275" b="0">
                <a:solidFill>
                  <a:srgbClr val="6B6B68"/>
                </a:solidFill>
              </a:rPr>
              <a:t>Use this table to isolate whether the bottleneck is memory content or memory-policy interface.</a:t>
            </a:r>
          </a:p>
        </p:txBody>
      </p:sp>
      <p:sp>
        <p:nvSpPr>
          <p:cNvPr id="9" name="矩形 8">
            <a:extLst>
              <a:ext uri="{FF2B5EF4-FFF2-40B4-BE49-F238E27FC236}">
                <ns2:creationId id="{81040574-F0F6-4D6D-BF24-4BE2F0F10B04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3429000" cy="49530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>
            <a:extLst>
              <a:ext uri="{FF2B5EF4-FFF2-40B4-BE49-F238E27FC236}">
                <ns2:creationId id="{DAB5DE1B-808A-4B42-B823-EB3CD9EB81CA}"/>
              </a:ext>
            </a:extLst>
          </p:cNvPr>
          <p:cNvSpPr>
            <a:spLocks noGrp="1"/>
          </p:cNvSpPr>
          <p:nvPr/>
        </p:nvSpPr>
        <p:spPr>
          <a:xfrm>
            <a:off x="647700" y="13906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METHOD / VARIANT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A4407FB1-3032-471D-907F-1B4281074CA0}"/>
              </a:ext>
            </a:extLst>
          </p:cNvPr>
          <p:cNvSpPr>
            <a:spLocks noGrp="1"/>
          </p:cNvSpPr>
          <p:nvPr/>
        </p:nvSpPr>
        <p:spPr>
          <a:xfrm>
            <a:off x="398145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ns2:creationId id="{45EF57F0-CEA1-4200-968D-61D84A41A58E}"/>
              </a:ext>
            </a:extLst>
          </p:cNvPr>
          <p:cNvSpPr>
            <a:spLocks noGrp="1"/>
          </p:cNvSpPr>
          <p:nvPr/>
        </p:nvSpPr>
        <p:spPr>
          <a:xfrm>
            <a:off x="407670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SUCCESS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400B1AC1-3BFD-428C-8C12-8D54CAA599EE}"/>
              </a:ext>
            </a:extLst>
          </p:cNvPr>
          <p:cNvSpPr>
            <a:spLocks noGrp="1"/>
          </p:cNvSpPr>
          <p:nvPr/>
        </p:nvSpPr>
        <p:spPr>
          <a:xfrm>
            <a:off x="560070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ns2:creationId id="{575B1559-DF71-46F2-A190-036D5B1A1F95}"/>
              </a:ext>
            </a:extLst>
          </p:cNvPr>
          <p:cNvSpPr>
            <a:spLocks noGrp="1"/>
          </p:cNvSpPr>
          <p:nvPr/>
        </p:nvSpPr>
        <p:spPr>
          <a:xfrm>
            <a:off x="569595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TRAIN LOSS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0DF922D3-04A9-466C-85AD-39D78890A863}"/>
              </a:ext>
            </a:extLst>
          </p:cNvPr>
          <p:cNvSpPr>
            <a:spLocks noGrp="1"/>
          </p:cNvSpPr>
          <p:nvPr/>
        </p:nvSpPr>
        <p:spPr>
          <a:xfrm>
            <a:off x="721995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ns2:creationId id="{8B9437D0-627B-45AC-975A-52B24FB4F231}"/>
              </a:ext>
            </a:extLst>
          </p:cNvPr>
          <p:cNvSpPr>
            <a:spLocks noGrp="1"/>
          </p:cNvSpPr>
          <p:nvPr/>
        </p:nvSpPr>
        <p:spPr>
          <a:xfrm>
            <a:off x="731520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INTERFACE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D16F6C02-B581-4A7E-800C-4DB18F6B80B4}"/>
              </a:ext>
            </a:extLst>
          </p:cNvPr>
          <p:cNvSpPr>
            <a:spLocks noGrp="1"/>
          </p:cNvSpPr>
          <p:nvPr/>
        </p:nvSpPr>
        <p:spPr>
          <a:xfrm>
            <a:off x="8839200" y="1390650"/>
            <a:ext cx="1619250" cy="49530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>
            <a:extLst>
              <a:ext uri="{FF2B5EF4-FFF2-40B4-BE49-F238E27FC236}">
                <ns2:creationId id="{AD072807-0950-4E38-911C-921610D37E1A}"/>
              </a:ext>
            </a:extLst>
          </p:cNvPr>
          <p:cNvSpPr>
            <a:spLocks noGrp="1"/>
          </p:cNvSpPr>
          <p:nvPr/>
        </p:nvSpPr>
        <p:spPr>
          <a:xfrm>
            <a:off x="8934450" y="139065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B412A72F-42C8-49B5-BF10-E823F92B58A2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342900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ns2:creationId id="{EA19C293-C6FB-46A0-802F-38B32468EB5B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pi0.5 baseline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82AC64F4-1805-45D5-AE6D-5AFA9ABDD1D8}"/>
              </a:ext>
            </a:extLst>
          </p:cNvPr>
          <p:cNvSpPr>
            <a:spLocks noGrp="1"/>
          </p:cNvSpPr>
          <p:nvPr/>
        </p:nvSpPr>
        <p:spPr>
          <a:xfrm>
            <a:off x="398145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矩形 21">
            <a:extLst>
              <a:ext uri="{FF2B5EF4-FFF2-40B4-BE49-F238E27FC236}">
                <ns2:creationId id="{4AA410F8-AE7A-4A85-A672-779FDCB8B647}"/>
              </a:ext>
            </a:extLst>
          </p:cNvPr>
          <p:cNvSpPr>
            <a:spLocks noGrp="1"/>
          </p:cNvSpPr>
          <p:nvPr/>
        </p:nvSpPr>
        <p:spPr>
          <a:xfrm>
            <a:off x="407670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16.5%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E1A776CC-80E1-45C9-879C-35D0BE6414E7}"/>
              </a:ext>
            </a:extLst>
          </p:cNvPr>
          <p:cNvSpPr>
            <a:spLocks noGrp="1"/>
          </p:cNvSpPr>
          <p:nvPr/>
        </p:nvSpPr>
        <p:spPr>
          <a:xfrm>
            <a:off x="560070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ns2:creationId id="{10A5FB78-A1D8-4320-A78E-ECC01D3BFF02}"/>
              </a:ext>
            </a:extLst>
          </p:cNvPr>
          <p:cNvSpPr>
            <a:spLocks noGrp="1"/>
          </p:cNvSpPr>
          <p:nvPr/>
        </p:nvSpPr>
        <p:spPr>
          <a:xfrm>
            <a:off x="569595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0.0049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52042FCB-72F1-4C80-B701-F9BCC768738F}"/>
              </a:ext>
            </a:extLst>
          </p:cNvPr>
          <p:cNvSpPr>
            <a:spLocks noGrp="1"/>
          </p:cNvSpPr>
          <p:nvPr/>
        </p:nvSpPr>
        <p:spPr>
          <a:xfrm>
            <a:off x="721995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矩形 25">
            <a:extLst>
              <a:ext uri="{FF2B5EF4-FFF2-40B4-BE49-F238E27FC236}">
                <ns2:creationId id="{5DC2813E-B2E5-49A2-AB76-85458D585A5C}"/>
              </a:ext>
            </a:extLst>
          </p:cNvPr>
          <p:cNvSpPr>
            <a:spLocks noGrp="1"/>
          </p:cNvSpPr>
          <p:nvPr/>
        </p:nvSpPr>
        <p:spPr>
          <a:xfrm>
            <a:off x="731520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none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15A6D6BF-991C-45E7-8DCC-2038CC336C42}"/>
              </a:ext>
            </a:extLst>
          </p:cNvPr>
          <p:cNvSpPr>
            <a:spLocks noGrp="1"/>
          </p:cNvSpPr>
          <p:nvPr/>
        </p:nvSpPr>
        <p:spPr>
          <a:xfrm>
            <a:off x="8839200" y="1885950"/>
            <a:ext cx="1619250" cy="590550"/>
          </a:xfrm>
          <a:prstGeom prst="rect">
            <a:avLst/>
          </a:prstGeom>
          <a:solidFill>
            <a:srgbClr val="F4E3E6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矩形 27">
            <a:extLst>
              <a:ext uri="{FF2B5EF4-FFF2-40B4-BE49-F238E27FC236}">
                <ns2:creationId id="{4201D9D6-303B-4B09-BCE9-F48611D68303}"/>
              </a:ext>
            </a:extLst>
          </p:cNvPr>
          <p:cNvSpPr>
            <a:spLocks noGrp="1"/>
          </p:cNvSpPr>
          <p:nvPr/>
        </p:nvSpPr>
        <p:spPr>
          <a:xfrm>
            <a:off x="8934450" y="18859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A51C30"/>
                </a:solidFill>
              </a:defRPr>
            </a:pPr>
            <a:r>
              <a:rPr sz="1050" b="1">
                <a:solidFill>
                  <a:srgbClr val="A51C30"/>
                </a:solidFill>
              </a:rPr>
              <a:t>completed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542101C3-631F-45C3-8771-F2A9FD3AB7F8}"/>
              </a:ext>
            </a:extLst>
          </p:cNvPr>
          <p:cNvSpPr>
            <a:spLocks noGrp="1"/>
          </p:cNvSpPr>
          <p:nvPr/>
        </p:nvSpPr>
        <p:spPr>
          <a:xfrm>
            <a:off x="552450" y="24765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>
            <a:extLst>
              <a:ext uri="{FF2B5EF4-FFF2-40B4-BE49-F238E27FC236}">
                <ns2:creationId id="{BC95B15C-D7C3-4CC3-BC16-8E8AFCDA640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Recurrent TTT expert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0AC6C48E-09B7-4468-9C12-B7EC3D960B16}"/>
              </a:ext>
            </a:extLst>
          </p:cNvPr>
          <p:cNvSpPr>
            <a:spLocks noGrp="1"/>
          </p:cNvSpPr>
          <p:nvPr/>
        </p:nvSpPr>
        <p:spPr>
          <a:xfrm>
            <a:off x="398145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矩形 31">
            <a:extLst>
              <a:ext uri="{FF2B5EF4-FFF2-40B4-BE49-F238E27FC236}">
                <ns2:creationId id="{CF4D3759-8118-48AC-A691-C82B191DCC5F}"/>
              </a:ext>
            </a:extLst>
          </p:cNvPr>
          <p:cNvSpPr>
            <a:spLocks noGrp="1"/>
          </p:cNvSpPr>
          <p:nvPr/>
        </p:nvSpPr>
        <p:spPr>
          <a:xfrm>
            <a:off x="407670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20.1%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68A4471E-D1B4-41B2-96D9-A8CD5E18AE95}"/>
              </a:ext>
            </a:extLst>
          </p:cNvPr>
          <p:cNvSpPr>
            <a:spLocks noGrp="1"/>
          </p:cNvSpPr>
          <p:nvPr/>
        </p:nvSpPr>
        <p:spPr>
          <a:xfrm>
            <a:off x="560070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矩形 33">
            <a:extLst>
              <a:ext uri="{FF2B5EF4-FFF2-40B4-BE49-F238E27FC236}">
                <ns2:creationId id="{1AF88014-72FC-4578-BC8C-52116C4E1D3F}"/>
              </a:ext>
            </a:extLst>
          </p:cNvPr>
          <p:cNvSpPr>
            <a:spLocks noGrp="1"/>
          </p:cNvSpPr>
          <p:nvPr/>
        </p:nvSpPr>
        <p:spPr>
          <a:xfrm>
            <a:off x="569595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0.0048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D4366E58-DC5D-4016-A93C-2138DDAA6E38}"/>
              </a:ext>
            </a:extLst>
          </p:cNvPr>
          <p:cNvSpPr>
            <a:spLocks noGrp="1"/>
          </p:cNvSpPr>
          <p:nvPr/>
        </p:nvSpPr>
        <p:spPr>
          <a:xfrm>
            <a:off x="721995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矩形 35">
            <a:extLst>
              <a:ext uri="{FF2B5EF4-FFF2-40B4-BE49-F238E27FC236}">
                <ns2:creationId id="{731DB1F0-6142-4A3B-B3F3-0075DF67D2EF}"/>
              </a:ext>
            </a:extLst>
          </p:cNvPr>
          <p:cNvSpPr>
            <a:spLocks noGrp="1"/>
          </p:cNvSpPr>
          <p:nvPr/>
        </p:nvSpPr>
        <p:spPr>
          <a:xfrm>
            <a:off x="731520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expert / recurrent</a:t>
            </a:r>
          </a:p>
        </p:txBody>
      </p:sp>
      <p:sp>
        <p:nvSpPr>
          <p:cNvPr id="37" name="矩形 36">
            <a:extLst>
              <a:ext uri="{FF2B5EF4-FFF2-40B4-BE49-F238E27FC236}">
                <ns2:creationId id="{D3C3D82C-7A95-42EF-A648-35D3A140E54D}"/>
              </a:ext>
            </a:extLst>
          </p:cNvPr>
          <p:cNvSpPr>
            <a:spLocks noGrp="1"/>
          </p:cNvSpPr>
          <p:nvPr/>
        </p:nvSpPr>
        <p:spPr>
          <a:xfrm>
            <a:off x="8839200" y="24765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矩形 37">
            <a:extLst>
              <a:ext uri="{FF2B5EF4-FFF2-40B4-BE49-F238E27FC236}">
                <ns2:creationId id="{752A09B7-3E90-493E-86AA-5C63FDB4C19A}"/>
              </a:ext>
            </a:extLst>
          </p:cNvPr>
          <p:cNvSpPr>
            <a:spLocks noGrp="1"/>
          </p:cNvSpPr>
          <p:nvPr/>
        </p:nvSpPr>
        <p:spPr>
          <a:xfrm>
            <a:off x="8934450" y="24765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</a:t>
            </a:r>
          </a:p>
        </p:txBody>
      </p:sp>
      <p:sp>
        <p:nvSpPr>
          <p:cNvPr id="39" name="矩形 38">
            <a:extLst>
              <a:ext uri="{FF2B5EF4-FFF2-40B4-BE49-F238E27FC236}">
                <ns2:creationId id="{73299833-08E2-4CE2-A1E8-2578A664931E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342900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ns2:creationId id="{EA78CFEC-46AE-4BCD-920D-5E8924FAF93D}"/>
              </a:ext>
            </a:extLst>
          </p:cNvPr>
          <p:cNvSpPr>
            <a:spLocks noGrp="1"/>
          </p:cNvSpPr>
          <p:nvPr/>
        </p:nvSpPr>
        <p:spPr>
          <a:xfrm>
            <a:off x="647700" y="30670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MovieChat modulation</a:t>
            </a:r>
          </a:p>
        </p:txBody>
      </p:sp>
      <p:sp>
        <p:nvSpPr>
          <p:cNvPr id="41" name="矩形 40">
            <a:extLst>
              <a:ext uri="{FF2B5EF4-FFF2-40B4-BE49-F238E27FC236}">
                <ns2:creationId id="{498E880B-3281-4AFA-9400-8D14E1C11A9A}"/>
              </a:ext>
            </a:extLst>
          </p:cNvPr>
          <p:cNvSpPr>
            <a:spLocks noGrp="1"/>
          </p:cNvSpPr>
          <p:nvPr/>
        </p:nvSpPr>
        <p:spPr>
          <a:xfrm>
            <a:off x="398145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矩形 41">
            <a:extLst>
              <a:ext uri="{FF2B5EF4-FFF2-40B4-BE49-F238E27FC236}">
                <ns2:creationId id="{6EF704A9-A6EA-4742-8624-5654424F7049}"/>
              </a:ext>
            </a:extLst>
          </p:cNvPr>
          <p:cNvSpPr>
            <a:spLocks noGrp="1"/>
          </p:cNvSpPr>
          <p:nvPr/>
        </p:nvSpPr>
        <p:spPr>
          <a:xfrm>
            <a:off x="407670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8.9%</a:t>
            </a:r>
          </a:p>
        </p:txBody>
      </p:sp>
      <p:sp>
        <p:nvSpPr>
          <p:cNvPr id="43" name="矩形 42">
            <a:extLst>
              <a:ext uri="{FF2B5EF4-FFF2-40B4-BE49-F238E27FC236}">
                <ns2:creationId id="{114DD19A-E657-451B-9292-F7CC329C1EC9}"/>
              </a:ext>
            </a:extLst>
          </p:cNvPr>
          <p:cNvSpPr>
            <a:spLocks noGrp="1"/>
          </p:cNvSpPr>
          <p:nvPr/>
        </p:nvSpPr>
        <p:spPr>
          <a:xfrm>
            <a:off x="560070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矩形 43">
            <a:extLst>
              <a:ext uri="{FF2B5EF4-FFF2-40B4-BE49-F238E27FC236}">
                <ns2:creationId id="{5AFEF1D4-4AAC-4777-96CB-E0DA90D52FB7}"/>
              </a:ext>
            </a:extLst>
          </p:cNvPr>
          <p:cNvSpPr>
            <a:spLocks noGrp="1"/>
          </p:cNvSpPr>
          <p:nvPr/>
        </p:nvSpPr>
        <p:spPr>
          <a:xfrm>
            <a:off x="569595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0.0090</a:t>
            </a:r>
          </a:p>
        </p:txBody>
      </p:sp>
      <p:sp>
        <p:nvSpPr>
          <p:cNvPr id="45" name="矩形 44">
            <a:extLst>
              <a:ext uri="{FF2B5EF4-FFF2-40B4-BE49-F238E27FC236}">
                <ns2:creationId id="{7215F615-077E-434F-8C9A-B9A28EB684D7}"/>
              </a:ext>
            </a:extLst>
          </p:cNvPr>
          <p:cNvSpPr>
            <a:spLocks noGrp="1"/>
          </p:cNvSpPr>
          <p:nvPr/>
        </p:nvSpPr>
        <p:spPr>
          <a:xfrm>
            <a:off x="721995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矩形 45">
            <a:extLst>
              <a:ext uri="{FF2B5EF4-FFF2-40B4-BE49-F238E27FC236}">
                <ns2:creationId id="{64A1F41E-1984-4DD7-8B25-EDF16C660D92}"/>
              </a:ext>
            </a:extLst>
          </p:cNvPr>
          <p:cNvSpPr>
            <a:spLocks noGrp="1"/>
          </p:cNvSpPr>
          <p:nvPr/>
        </p:nvSpPr>
        <p:spPr>
          <a:xfrm>
            <a:off x="731520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modulation condition</a:t>
            </a:r>
          </a:p>
        </p:txBody>
      </p:sp>
      <p:sp>
        <p:nvSpPr>
          <p:cNvPr id="47" name="矩形 46">
            <a:extLst>
              <a:ext uri="{FF2B5EF4-FFF2-40B4-BE49-F238E27FC236}">
                <ns2:creationId id="{385AA122-EE9E-42E3-A2B8-490FD9185159}"/>
              </a:ext>
            </a:extLst>
          </p:cNvPr>
          <p:cNvSpPr>
            <a:spLocks noGrp="1"/>
          </p:cNvSpPr>
          <p:nvPr/>
        </p:nvSpPr>
        <p:spPr>
          <a:xfrm>
            <a:off x="8839200" y="30670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矩形 47">
            <a:extLst>
              <a:ext uri="{FF2B5EF4-FFF2-40B4-BE49-F238E27FC236}">
                <ns2:creationId id="{49D5045C-A09E-490F-9C38-323E589DCEFE}"/>
              </a:ext>
            </a:extLst>
          </p:cNvPr>
          <p:cNvSpPr>
            <a:spLocks noGrp="1"/>
          </p:cNvSpPr>
          <p:nvPr/>
        </p:nvSpPr>
        <p:spPr>
          <a:xfrm>
            <a:off x="8934450" y="30670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completed</a:t>
            </a:r>
          </a:p>
        </p:txBody>
      </p:sp>
      <p:sp>
        <p:nvSpPr>
          <p:cNvPr id="49" name="矩形 48">
            <a:extLst>
              <a:ext uri="{FF2B5EF4-FFF2-40B4-BE49-F238E27FC236}">
                <ns2:creationId id="{510ECD0E-BD61-4896-9438-5CC2E1A626F7}"/>
              </a:ext>
            </a:extLst>
          </p:cNvPr>
          <p:cNvSpPr>
            <a:spLocks noGrp="1"/>
          </p:cNvSpPr>
          <p:nvPr/>
        </p:nvSpPr>
        <p:spPr>
          <a:xfrm>
            <a:off x="552450" y="36576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矩形 49">
            <a:extLst>
              <a:ext uri="{FF2B5EF4-FFF2-40B4-BE49-F238E27FC236}">
                <ns2:creationId id="{C5077405-F9F1-47DE-BBC5-98B4575F97AC}"/>
              </a:ext>
            </a:extLst>
          </p:cNvPr>
          <p:cNvSpPr>
            <a:spLocks noGrp="1"/>
          </p:cNvSpPr>
          <p:nvPr/>
        </p:nvSpPr>
        <p:spPr>
          <a:xfrm>
            <a:off x="647700" y="36576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MovieChat context</a:t>
            </a:r>
          </a:p>
        </p:txBody>
      </p:sp>
      <p:sp>
        <p:nvSpPr>
          <p:cNvPr id="51" name="矩形 50">
            <a:extLst>
              <a:ext uri="{FF2B5EF4-FFF2-40B4-BE49-F238E27FC236}">
                <ns2:creationId id="{7CA1B595-874F-48F1-AC13-14A3D0D7EC49}"/>
              </a:ext>
            </a:extLst>
          </p:cNvPr>
          <p:cNvSpPr>
            <a:spLocks noGrp="1"/>
          </p:cNvSpPr>
          <p:nvPr/>
        </p:nvSpPr>
        <p:spPr>
          <a:xfrm>
            <a:off x="398145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矩形 51">
            <a:extLst>
              <a:ext uri="{FF2B5EF4-FFF2-40B4-BE49-F238E27FC236}">
                <ns2:creationId id="{7AD4F53D-C2AE-4C43-A721-3F8AEE922312}"/>
              </a:ext>
            </a:extLst>
          </p:cNvPr>
          <p:cNvSpPr>
            <a:spLocks noGrp="1"/>
          </p:cNvSpPr>
          <p:nvPr/>
        </p:nvSpPr>
        <p:spPr>
          <a:xfrm>
            <a:off x="407670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pending</a:t>
            </a:r>
          </a:p>
        </p:txBody>
      </p:sp>
      <p:sp>
        <p:nvSpPr>
          <p:cNvPr id="53" name="矩形 52">
            <a:extLst>
              <a:ext uri="{FF2B5EF4-FFF2-40B4-BE49-F238E27FC236}">
                <ns2:creationId id="{F42E441C-2C02-4A4E-BCC1-5982B2A375E7}"/>
              </a:ext>
            </a:extLst>
          </p:cNvPr>
          <p:cNvSpPr>
            <a:spLocks noGrp="1"/>
          </p:cNvSpPr>
          <p:nvPr/>
        </p:nvSpPr>
        <p:spPr>
          <a:xfrm>
            <a:off x="560070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矩形 53">
            <a:extLst>
              <a:ext uri="{FF2B5EF4-FFF2-40B4-BE49-F238E27FC236}">
                <ns2:creationId id="{44187087-8D74-45CD-A867-218529354ACF}"/>
              </a:ext>
            </a:extLst>
          </p:cNvPr>
          <p:cNvSpPr>
            <a:spLocks noGrp="1"/>
          </p:cNvSpPr>
          <p:nvPr/>
        </p:nvSpPr>
        <p:spPr>
          <a:xfrm>
            <a:off x="569595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pending</a:t>
            </a:r>
          </a:p>
        </p:txBody>
      </p:sp>
      <p:sp>
        <p:nvSpPr>
          <p:cNvPr id="55" name="矩形 54">
            <a:extLst>
              <a:ext uri="{FF2B5EF4-FFF2-40B4-BE49-F238E27FC236}">
                <ns2:creationId id="{266C8989-3D22-4A8C-BECE-84F42C5F68E6}"/>
              </a:ext>
            </a:extLst>
          </p:cNvPr>
          <p:cNvSpPr>
            <a:spLocks noGrp="1"/>
          </p:cNvSpPr>
          <p:nvPr/>
        </p:nvSpPr>
        <p:spPr>
          <a:xfrm>
            <a:off x="721995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矩形 55">
            <a:extLst>
              <a:ext uri="{FF2B5EF4-FFF2-40B4-BE49-F238E27FC236}">
                <ns2:creationId id="{B3980E3D-4CAF-4B23-9821-E36D3A13F479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prefix/context tokens</a:t>
            </a:r>
          </a:p>
        </p:txBody>
      </p:sp>
      <p:sp>
        <p:nvSpPr>
          <p:cNvPr id="57" name="矩形 56">
            <a:extLst>
              <a:ext uri="{FF2B5EF4-FFF2-40B4-BE49-F238E27FC236}">
                <ns2:creationId id="{A71BB2E2-077B-4BA5-9179-7867D6E37772}"/>
              </a:ext>
            </a:extLst>
          </p:cNvPr>
          <p:cNvSpPr>
            <a:spLocks noGrp="1"/>
          </p:cNvSpPr>
          <p:nvPr/>
        </p:nvSpPr>
        <p:spPr>
          <a:xfrm>
            <a:off x="8839200" y="36576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矩形 57">
            <a:extLst>
              <a:ext uri="{FF2B5EF4-FFF2-40B4-BE49-F238E27FC236}">
                <ns2:creationId id="{3B28010A-24AD-42A7-88FC-0E91BFB922A2}"/>
              </a:ext>
            </a:extLst>
          </p:cNvPr>
          <p:cNvSpPr>
            <a:spLocks noGrp="1"/>
          </p:cNvSpPr>
          <p:nvPr/>
        </p:nvSpPr>
        <p:spPr>
          <a:xfrm>
            <a:off x="8934450" y="36576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next experiment</a:t>
            </a:r>
          </a:p>
        </p:txBody>
      </p:sp>
      <p:sp>
        <p:nvSpPr>
          <p:cNvPr id="59" name="矩形 58">
            <a:extLst>
              <a:ext uri="{FF2B5EF4-FFF2-40B4-BE49-F238E27FC236}">
                <ns2:creationId id="{64897028-FC30-4521-99BE-B329A21E6332}"/>
              </a:ext>
            </a:extLst>
          </p:cNvPr>
          <p:cNvSpPr>
            <a:spLocks noGrp="1"/>
          </p:cNvSpPr>
          <p:nvPr/>
        </p:nvSpPr>
        <p:spPr>
          <a:xfrm>
            <a:off x="552450" y="4248150"/>
            <a:ext cx="342900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矩形 59">
            <a:extLst>
              <a:ext uri="{FF2B5EF4-FFF2-40B4-BE49-F238E27FC236}">
                <ns2:creationId id="{9437E5FA-93BE-401E-8848-10D53E41D93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Sidecar / online parity</a:t>
            </a:r>
          </a:p>
        </p:txBody>
      </p:sp>
      <p:sp>
        <p:nvSpPr>
          <p:cNvPr id="61" name="矩形 60">
            <a:extLst>
              <a:ext uri="{FF2B5EF4-FFF2-40B4-BE49-F238E27FC236}">
                <ns2:creationId id="{33AB719B-2C22-46A6-AC00-B7DDE6F14F98}"/>
              </a:ext>
            </a:extLst>
          </p:cNvPr>
          <p:cNvSpPr>
            <a:spLocks noGrp="1"/>
          </p:cNvSpPr>
          <p:nvPr/>
        </p:nvSpPr>
        <p:spPr>
          <a:xfrm>
            <a:off x="398145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矩形 61">
            <a:extLst>
              <a:ext uri="{FF2B5EF4-FFF2-40B4-BE49-F238E27FC236}">
                <ns2:creationId id="{3A1803C2-715A-4E58-8C8E-CF321A0EF2ED}"/>
              </a:ext>
            </a:extLst>
          </p:cNvPr>
          <p:cNvSpPr>
            <a:spLocks noGrp="1"/>
          </p:cNvSpPr>
          <p:nvPr/>
        </p:nvSpPr>
        <p:spPr>
          <a:xfrm>
            <a:off x="407670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diagnostic</a:t>
            </a:r>
          </a:p>
        </p:txBody>
      </p:sp>
      <p:sp>
        <p:nvSpPr>
          <p:cNvPr id="63" name="矩形 62">
            <a:extLst>
              <a:ext uri="{FF2B5EF4-FFF2-40B4-BE49-F238E27FC236}">
                <ns2:creationId id="{5347BAA1-0A80-4C9F-A5FB-A20AE4CD3032}"/>
              </a:ext>
            </a:extLst>
          </p:cNvPr>
          <p:cNvSpPr>
            <a:spLocks noGrp="1"/>
          </p:cNvSpPr>
          <p:nvPr/>
        </p:nvSpPr>
        <p:spPr>
          <a:xfrm>
            <a:off x="560070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矩形 63">
            <a:extLst>
              <a:ext uri="{FF2B5EF4-FFF2-40B4-BE49-F238E27FC236}">
                <ns2:creationId id="{38E41CDC-1456-47F6-B333-BACE74AC6F79}"/>
              </a:ext>
            </a:extLst>
          </p:cNvPr>
          <p:cNvSpPr>
            <a:spLocks noGrp="1"/>
          </p:cNvSpPr>
          <p:nvPr/>
        </p:nvSpPr>
        <p:spPr>
          <a:xfrm>
            <a:off x="569595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n/a</a:t>
            </a:r>
          </a:p>
        </p:txBody>
      </p:sp>
      <p:sp>
        <p:nvSpPr>
          <p:cNvPr id="65" name="矩形 64">
            <a:extLst>
              <a:ext uri="{FF2B5EF4-FFF2-40B4-BE49-F238E27FC236}">
                <ns2:creationId id="{56402E3C-2B53-4975-8500-FCF7D4A9AF4D}"/>
              </a:ext>
            </a:extLst>
          </p:cNvPr>
          <p:cNvSpPr>
            <a:spLocks noGrp="1"/>
          </p:cNvSpPr>
          <p:nvPr/>
        </p:nvSpPr>
        <p:spPr>
          <a:xfrm>
            <a:off x="721995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矩形 65">
            <a:extLst>
              <a:ext uri="{FF2B5EF4-FFF2-40B4-BE49-F238E27FC236}">
                <ns2:creationId id="{762483D9-6E3A-47C2-9BDB-4A577A213A04}"/>
              </a:ext>
            </a:extLst>
          </p:cNvPr>
          <p:cNvSpPr>
            <a:spLocks noGrp="1"/>
          </p:cNvSpPr>
          <p:nvPr/>
        </p:nvSpPr>
        <p:spPr>
          <a:xfrm>
            <a:off x="731520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encoder parity</a:t>
            </a:r>
          </a:p>
        </p:txBody>
      </p:sp>
      <p:sp>
        <p:nvSpPr>
          <p:cNvPr id="67" name="矩形 66">
            <a:extLst>
              <a:ext uri="{FF2B5EF4-FFF2-40B4-BE49-F238E27FC236}">
                <ns2:creationId id="{7CD43356-CE17-4874-9B56-4C93F1C3A479}"/>
              </a:ext>
            </a:extLst>
          </p:cNvPr>
          <p:cNvSpPr>
            <a:spLocks noGrp="1"/>
          </p:cNvSpPr>
          <p:nvPr/>
        </p:nvSpPr>
        <p:spPr>
          <a:xfrm>
            <a:off x="8839200" y="4248150"/>
            <a:ext cx="1619250" cy="590550"/>
          </a:xfrm>
          <a:prstGeom prst="rect">
            <a:avLst/>
          </a:prstGeom>
          <a:solidFill>
            <a:srgbClr val="F1EEE8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矩形 67">
            <a:extLst>
              <a:ext uri="{FF2B5EF4-FFF2-40B4-BE49-F238E27FC236}">
                <ns2:creationId id="{F51A2CDC-FD77-480F-8FB5-10FB022F2A8B}"/>
              </a:ext>
            </a:extLst>
          </p:cNvPr>
          <p:cNvSpPr>
            <a:spLocks noGrp="1"/>
          </p:cNvSpPr>
          <p:nvPr/>
        </p:nvSpPr>
        <p:spPr>
          <a:xfrm>
            <a:off x="8934450" y="424815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planned</a:t>
            </a:r>
          </a:p>
        </p:txBody>
      </p:sp>
      <p:sp>
        <p:nvSpPr>
          <p:cNvPr id="69" name="矩形 68">
            <a:extLst>
              <a:ext uri="{FF2B5EF4-FFF2-40B4-BE49-F238E27FC236}">
                <ns2:creationId id="{1B778590-D860-4EDA-A3F8-851CD38B2B92}"/>
              </a:ext>
            </a:extLst>
          </p:cNvPr>
          <p:cNvSpPr>
            <a:spLocks noGrp="1"/>
          </p:cNvSpPr>
          <p:nvPr/>
        </p:nvSpPr>
        <p:spPr>
          <a:xfrm>
            <a:off x="552450" y="4838700"/>
            <a:ext cx="342900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矩形 69">
            <a:extLst>
              <a:ext uri="{FF2B5EF4-FFF2-40B4-BE49-F238E27FC236}">
                <ns2:creationId id="{62588A52-513F-4D62-A5E6-BDDD3448D853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Token budget ablation</a:t>
            </a:r>
          </a:p>
        </p:txBody>
      </p:sp>
      <p:sp>
        <p:nvSpPr>
          <p:cNvPr id="71" name="矩形 70">
            <a:extLst>
              <a:ext uri="{FF2B5EF4-FFF2-40B4-BE49-F238E27FC236}">
                <ns2:creationId id="{E69F7B8E-DA9B-4541-A67F-B4E4E76D15EF}"/>
              </a:ext>
            </a:extLst>
          </p:cNvPr>
          <p:cNvSpPr>
            <a:spLocks noGrp="1"/>
          </p:cNvSpPr>
          <p:nvPr/>
        </p:nvSpPr>
        <p:spPr>
          <a:xfrm>
            <a:off x="398145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矩形 71">
            <a:extLst>
              <a:ext uri="{FF2B5EF4-FFF2-40B4-BE49-F238E27FC236}">
                <ns2:creationId id="{5A79AFC6-F58F-45DB-882C-E9A9E137CA66}"/>
              </a:ext>
            </a:extLst>
          </p:cNvPr>
          <p:cNvSpPr>
            <a:spLocks noGrp="1"/>
          </p:cNvSpPr>
          <p:nvPr/>
        </p:nvSpPr>
        <p:spPr>
          <a:xfrm>
            <a:off x="407670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diagnostic</a:t>
            </a:r>
          </a:p>
        </p:txBody>
      </p:sp>
      <p:sp>
        <p:nvSpPr>
          <p:cNvPr id="73" name="矩形 72">
            <a:extLst>
              <a:ext uri="{FF2B5EF4-FFF2-40B4-BE49-F238E27FC236}">
                <ns2:creationId id="{9DE91D22-2705-435A-AE14-1956860980A4}"/>
              </a:ext>
            </a:extLst>
          </p:cNvPr>
          <p:cNvSpPr>
            <a:spLocks noGrp="1"/>
          </p:cNvSpPr>
          <p:nvPr/>
        </p:nvSpPr>
        <p:spPr>
          <a:xfrm>
            <a:off x="560070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矩形 73">
            <a:extLst>
              <a:ext uri="{FF2B5EF4-FFF2-40B4-BE49-F238E27FC236}">
                <ns2:creationId id="{535CBDEB-18CD-4D06-9754-E8D45A9223C1}"/>
              </a:ext>
            </a:extLst>
          </p:cNvPr>
          <p:cNvSpPr>
            <a:spLocks noGrp="1"/>
          </p:cNvSpPr>
          <p:nvPr/>
        </p:nvSpPr>
        <p:spPr>
          <a:xfrm>
            <a:off x="569595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n/a</a:t>
            </a:r>
          </a:p>
        </p:txBody>
      </p:sp>
      <p:sp>
        <p:nvSpPr>
          <p:cNvPr id="75" name="矩形 74">
            <a:extLst>
              <a:ext uri="{FF2B5EF4-FFF2-40B4-BE49-F238E27FC236}">
                <ns2:creationId id="{E225004A-ED41-4C40-A1D0-FDC23E9D4163}"/>
              </a:ext>
            </a:extLst>
          </p:cNvPr>
          <p:cNvSpPr>
            <a:spLocks noGrp="1"/>
          </p:cNvSpPr>
          <p:nvPr/>
        </p:nvSpPr>
        <p:spPr>
          <a:xfrm>
            <a:off x="721995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矩形 75">
            <a:extLst>
              <a:ext uri="{FF2B5EF4-FFF2-40B4-BE49-F238E27FC236}">
                <ns2:creationId id="{907E3416-66B1-4FE8-A79F-07FDF1CCA87F}"/>
              </a:ext>
            </a:extLst>
          </p:cNvPr>
          <p:cNvSpPr>
            <a:spLocks noGrp="1"/>
          </p:cNvSpPr>
          <p:nvPr/>
        </p:nvSpPr>
        <p:spPr>
          <a:xfrm>
            <a:off x="731520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64 / 128 / 256</a:t>
            </a:r>
          </a:p>
        </p:txBody>
      </p:sp>
      <p:sp>
        <p:nvSpPr>
          <p:cNvPr id="77" name="矩形 76">
            <a:extLst>
              <a:ext uri="{FF2B5EF4-FFF2-40B4-BE49-F238E27FC236}">
                <ns2:creationId id="{1CA9827D-E3DD-4B60-A780-27D4BDB6BF5A}"/>
              </a:ext>
            </a:extLst>
          </p:cNvPr>
          <p:cNvSpPr>
            <a:spLocks noGrp="1"/>
          </p:cNvSpPr>
          <p:nvPr/>
        </p:nvSpPr>
        <p:spPr>
          <a:xfrm>
            <a:off x="8839200" y="4838700"/>
            <a:ext cx="1619250" cy="590550"/>
          </a:xfrm>
          <a:prstGeom prst="rect">
            <a:avLst/>
          </a:prstGeom>
          <a:solidFill>
            <a:srgbClr val="FFFEFB"/>
          </a:solidFill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矩形 77">
            <a:extLst>
              <a:ext uri="{FF2B5EF4-FFF2-40B4-BE49-F238E27FC236}">
                <ns2:creationId id="{6E65E851-FF9A-4AD6-B510-D9CC8ECAABEF}"/>
              </a:ext>
            </a:extLst>
          </p:cNvPr>
          <p:cNvSpPr>
            <a:spLocks noGrp="1"/>
          </p:cNvSpPr>
          <p:nvPr/>
        </p:nvSpPr>
        <p:spPr>
          <a:xfrm>
            <a:off x="8934450" y="4838700"/>
            <a:ext cx="1428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1717"/>
                </a:solidFill>
              </a:defRPr>
            </a:pPr>
            <a:r>
              <a:rPr sz="1050" b="0">
                <a:solidFill>
                  <a:srgbClr val="171717"/>
                </a:solidFill>
              </a:rPr>
              <a:t>planned</a:t>
            </a:r>
          </a:p>
        </p:txBody>
      </p:sp>
    </p:spTree>
    <p:extLst>
      <p:ext uri="{BB962C8B-B14F-4D97-AF65-F5344CB8AC3E}">
        <ns3:creationId val="1601860255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ns2:creationId id="{B95AF708-AC01-48F9-AF7C-BA8D085E2FB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47625" cy="3238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ns2:creationId id="{BEA84B27-B5B7-4B37-8F2D-ECC5FEDD1408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Conclusions &amp; Future Work</a:t>
            </a:r>
          </a:p>
        </p:txBody>
      </p:sp>
      <p:sp>
        <p:nvSpPr>
          <p:cNvPr id="3" name="直接连接符 2">
            <a:extLst>
              <a:ext uri="{FF2B5EF4-FFF2-40B4-BE49-F238E27FC236}">
                <ns2:creationId id="{006EBBA6-2071-4AB0-A3CE-B6843D82CC56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ns2:creationId id="{55E9628D-BE23-4AD0-AEC8-43E7B779F20C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5" name="矩形 4">
            <a:extLst>
              <a:ext uri="{FF2B5EF4-FFF2-40B4-BE49-F238E27FC236}">
                <ns2:creationId id="{DB0291DF-D6BB-4181-8F82-01EDD1AE3E98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6" name="矩形 5">
            <a:extLst>
              <a:ext uri="{FF2B5EF4-FFF2-40B4-BE49-F238E27FC236}">
                <ns2:creationId id="{FE53E467-0177-4324-9217-5BF7943279C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ns2:creationId id="{DE6A0DAF-5CFA-4242-B82D-FF083BFBB210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8" name="矩形 7">
            <a:extLst>
              <a:ext uri="{FF2B5EF4-FFF2-40B4-BE49-F238E27FC236}">
                <ns2:creationId id="{3D3F9247-6BC9-4D30-9450-BC1BBA0ABE6D}"/>
              </a:ext>
            </a:extLst>
          </p:cNvPr>
          <p:cNvSpPr>
            <a:spLocks noGrp="1"/>
          </p:cNvSpPr>
          <p:nvPr/>
        </p:nvSpPr>
        <p:spPr>
          <a:xfrm>
            <a:off x="666750" y="10572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A51C30"/>
                </a:solidFill>
              </a:defRPr>
            </a:pPr>
            <a:r>
              <a:rPr sz="1275" b="1">
                <a:solidFill>
                  <a:srgbClr val="A51C30"/>
                </a:solidFill>
              </a:rPr>
              <a:t>CONCLUSIONS</a:t>
            </a:r>
          </a:p>
        </p:txBody>
      </p:sp>
      <p:sp>
        <p:nvSpPr>
          <p:cNvPr id="9" name="直接连接符 8">
            <a:extLst>
              <a:ext uri="{FF2B5EF4-FFF2-40B4-BE49-F238E27FC236}">
                <ns2:creationId id="{6175CF3A-A73B-4B01-BC4F-DD1DB8577DF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7625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椭圆 9">
            <a:extLst>
              <a:ext uri="{FF2B5EF4-FFF2-40B4-BE49-F238E27FC236}">
                <ns2:creationId id="{D1191C6C-83A9-49F4-9FB4-88288DD9F9E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ns2:creationId id="{86ED6468-DD4C-4E4C-8822-81BA6A7C89B8}"/>
              </a:ext>
            </a:extLst>
          </p:cNvPr>
          <p:cNvSpPr>
            <a:spLocks noGrp="1"/>
          </p:cNvSpPr>
          <p:nvPr/>
        </p:nvSpPr>
        <p:spPr>
          <a:xfrm>
            <a:off x="666750" y="17811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26E59EA8-C610-4F58-8C9B-0C79552A66E4}"/>
              </a:ext>
            </a:extLst>
          </p:cNvPr>
          <p:cNvSpPr>
            <a:spLocks noGrp="1"/>
          </p:cNvSpPr>
          <p:nvPr/>
        </p:nvSpPr>
        <p:spPr>
          <a:xfrm>
            <a:off x="1066800" y="17526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Recurrent TTT improves over pi0.5 baseline on RoboMME.</a:t>
            </a:r>
          </a:p>
        </p:txBody>
      </p:sp>
      <p:sp>
        <p:nvSpPr>
          <p:cNvPr id="13" name="椭圆 12">
            <a:extLst>
              <a:ext uri="{FF2B5EF4-FFF2-40B4-BE49-F238E27FC236}">
                <ns2:creationId id="{3DF7985A-79F3-4B6B-84EA-7440B8B0F2E9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ns2:creationId id="{DBB8A516-E647-4D61-9839-DF5E10C59504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2D73DF16-6DFF-4015-A195-DD092D5BF449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MovieChat modulation trains stably but degrades rollout success.</a:t>
            </a:r>
          </a:p>
        </p:txBody>
      </p:sp>
      <p:sp>
        <p:nvSpPr>
          <p:cNvPr id="16" name="椭圆 15">
            <a:extLst>
              <a:ext uri="{FF2B5EF4-FFF2-40B4-BE49-F238E27FC236}">
                <ns2:creationId id="{F8CA36D1-C102-43D2-9AE8-FAB5063FD58C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247650" cy="247650"/>
          </a:xfrm>
          <a:prstGeom prst="ellipse">
            <a:avLst/>
          </a:prstGeom>
          <a:noFill/>
          <a:ln w="19050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矩形 16">
            <a:extLst>
              <a:ext uri="{FF2B5EF4-FFF2-40B4-BE49-F238E27FC236}">
                <ns2:creationId id="{62BC74B9-D8C8-4F05-8A28-7812102068A6}"/>
              </a:ext>
            </a:extLst>
          </p:cNvPr>
          <p:cNvSpPr>
            <a:spLocks noGrp="1"/>
          </p:cNvSpPr>
          <p:nvPr/>
        </p:nvSpPr>
        <p:spPr>
          <a:xfrm>
            <a:off x="666750" y="345757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A51C30"/>
                </a:solidFill>
              </a:defRPr>
            </a:pPr>
            <a:r>
              <a:rPr sz="1125" b="1">
                <a:solidFill>
                  <a:srgbClr val="A51C30"/>
                </a:solidFill>
              </a:rPr>
              <a:t>✓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94204979-6091-4BCD-B34E-0C269A0282B5}"/>
              </a:ext>
            </a:extLst>
          </p:cNvPr>
          <p:cNvSpPr>
            <a:spLocks noGrp="1"/>
          </p:cNvSpPr>
          <p:nvPr/>
        </p:nvSpPr>
        <p:spPr>
          <a:xfrm>
            <a:off x="1066800" y="3429000"/>
            <a:ext cx="4095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71717"/>
                </a:solidFill>
              </a:defRPr>
            </a:pPr>
            <a:r>
              <a:rPr sz="1200" b="0">
                <a:solidFill>
                  <a:srgbClr val="171717"/>
                </a:solidFill>
              </a:rPr>
              <a:t>The key research variable is memory-policy interface, not just memory availability.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25F128F7-A5C8-4835-AA1C-D0FDDAC4D206}"/>
              </a:ext>
            </a:extLst>
          </p:cNvPr>
          <p:cNvSpPr>
            <a:spLocks noGrp="1"/>
          </p:cNvSpPr>
          <p:nvPr/>
        </p:nvSpPr>
        <p:spPr>
          <a:xfrm>
            <a:off x="666750" y="45434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A7B8"/>
                </a:solidFill>
              </a:defRPr>
            </a:pPr>
            <a:r>
              <a:rPr sz="1275" b="1">
                <a:solidFill>
                  <a:srgbClr val="17A7B8"/>
                </a:solidFill>
              </a:rPr>
              <a:t>FUTURE WORK</a:t>
            </a:r>
          </a:p>
        </p:txBody>
      </p:sp>
      <p:sp>
        <p:nvSpPr>
          <p:cNvPr id="20" name="直接连接符 19">
            <a:extLst>
              <a:ext uri="{FF2B5EF4-FFF2-40B4-BE49-F238E27FC236}">
                <ns2:creationId id="{E7D30A8A-0CC5-4C4C-8B85-78435CBBDCB6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7625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矩形 20">
            <a:extLst>
              <a:ext uri="{FF2B5EF4-FFF2-40B4-BE49-F238E27FC236}">
                <ns2:creationId id="{C02A5066-F3A2-4CEF-9A4B-93FBAACDBC5B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Train MovieChat-context 80k   ·   Evaluate by task family   ·   Inspect rollout videos   ·   Design action-aware retrieval</a:t>
            </a:r>
          </a:p>
        </p:txBody>
      </p:sp>
      <p:sp>
        <p:nvSpPr>
          <p:cNvPr id="22" name="直接连接符 21">
            <a:extLst>
              <a:ext uri="{FF2B5EF4-FFF2-40B4-BE49-F238E27FC236}">
                <ns2:creationId id="{98187341-43D8-4405-B728-5A7A98A72261}"/>
              </a:ext>
            </a:extLst>
          </p:cNvPr>
          <p:cNvSpPr>
            <a:spLocks noGrp="1"/>
          </p:cNvSpPr>
          <p:nvPr/>
        </p:nvSpPr>
        <p:spPr>
          <a:xfrm>
            <a:off x="6858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ns2:creationId id="{7ADE4416-AEF1-42AF-B12B-B8699D3C3867}"/>
              </a:ext>
            </a:extLst>
          </p:cNvPr>
          <p:cNvSpPr>
            <a:spLocks noGrp="1"/>
          </p:cNvSpPr>
          <p:nvPr/>
        </p:nvSpPr>
        <p:spPr>
          <a:xfrm>
            <a:off x="7239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ns2:creationId id="{EB6D52FB-FBCE-4483-98F4-57A44F91A71C}"/>
              </a:ext>
            </a:extLst>
          </p:cNvPr>
          <p:cNvSpPr>
            <a:spLocks noGrp="1"/>
          </p:cNvSpPr>
          <p:nvPr/>
        </p:nvSpPr>
        <p:spPr>
          <a:xfrm>
            <a:off x="7620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ns2:creationId id="{89AF686A-3796-4C8B-AB21-A6877A5DD317}"/>
              </a:ext>
            </a:extLst>
          </p:cNvPr>
          <p:cNvSpPr>
            <a:spLocks noGrp="1"/>
          </p:cNvSpPr>
          <p:nvPr/>
        </p:nvSpPr>
        <p:spPr>
          <a:xfrm>
            <a:off x="8001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ns2:creationId id="{AF634875-AE6E-44FD-BF61-435B9B58A3CE}"/>
              </a:ext>
            </a:extLst>
          </p:cNvPr>
          <p:cNvSpPr>
            <a:spLocks noGrp="1"/>
          </p:cNvSpPr>
          <p:nvPr/>
        </p:nvSpPr>
        <p:spPr>
          <a:xfrm>
            <a:off x="8382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直接连接符 26">
            <a:extLst>
              <a:ext uri="{FF2B5EF4-FFF2-40B4-BE49-F238E27FC236}">
                <ns2:creationId id="{DDC779A9-BF77-4E54-836B-85A8BE9DFE20}"/>
              </a:ext>
            </a:extLst>
          </p:cNvPr>
          <p:cNvSpPr>
            <a:spLocks noGrp="1"/>
          </p:cNvSpPr>
          <p:nvPr/>
        </p:nvSpPr>
        <p:spPr>
          <a:xfrm>
            <a:off x="8763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直接连接符 27">
            <a:extLst>
              <a:ext uri="{FF2B5EF4-FFF2-40B4-BE49-F238E27FC236}">
                <ns2:creationId id="{59E69939-7D08-4C1A-B768-3FFEA5464AD3}"/>
              </a:ext>
            </a:extLst>
          </p:cNvPr>
          <p:cNvSpPr>
            <a:spLocks noGrp="1"/>
          </p:cNvSpPr>
          <p:nvPr/>
        </p:nvSpPr>
        <p:spPr>
          <a:xfrm>
            <a:off x="9144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直接连接符 28">
            <a:extLst>
              <a:ext uri="{FF2B5EF4-FFF2-40B4-BE49-F238E27FC236}">
                <ns2:creationId id="{CD391D2F-AFD7-4827-A1B7-2220C2C79BCA}"/>
              </a:ext>
            </a:extLst>
          </p:cNvPr>
          <p:cNvSpPr>
            <a:spLocks noGrp="1"/>
          </p:cNvSpPr>
          <p:nvPr/>
        </p:nvSpPr>
        <p:spPr>
          <a:xfrm>
            <a:off x="9525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直接连接符 29">
            <a:extLst>
              <a:ext uri="{FF2B5EF4-FFF2-40B4-BE49-F238E27FC236}">
                <ns2:creationId id="{2F0E36AA-B156-4C7C-8A91-D01A715E58F6}"/>
              </a:ext>
            </a:extLst>
          </p:cNvPr>
          <p:cNvSpPr>
            <a:spLocks noGrp="1"/>
          </p:cNvSpPr>
          <p:nvPr/>
        </p:nvSpPr>
        <p:spPr>
          <a:xfrm>
            <a:off x="9906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直接连接符 30">
            <a:extLst>
              <a:ext uri="{FF2B5EF4-FFF2-40B4-BE49-F238E27FC236}">
                <ns2:creationId id="{A1443BB9-A87B-49F5-B99E-81EA03656C23}"/>
              </a:ext>
            </a:extLst>
          </p:cNvPr>
          <p:cNvSpPr>
            <a:spLocks noGrp="1"/>
          </p:cNvSpPr>
          <p:nvPr/>
        </p:nvSpPr>
        <p:spPr>
          <a:xfrm>
            <a:off x="10287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直接连接符 31">
            <a:extLst>
              <a:ext uri="{FF2B5EF4-FFF2-40B4-BE49-F238E27FC236}">
                <ns2:creationId id="{54A11A9A-8D4D-4119-A880-42908ADB7B98}"/>
              </a:ext>
            </a:extLst>
          </p:cNvPr>
          <p:cNvSpPr>
            <a:spLocks noGrp="1"/>
          </p:cNvSpPr>
          <p:nvPr/>
        </p:nvSpPr>
        <p:spPr>
          <a:xfrm>
            <a:off x="10668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直接连接符 32">
            <a:extLst>
              <a:ext uri="{FF2B5EF4-FFF2-40B4-BE49-F238E27FC236}">
                <ns2:creationId id="{0721C92A-766D-4819-95A3-BA348A9F3861}"/>
              </a:ext>
            </a:extLst>
          </p:cNvPr>
          <p:cNvSpPr>
            <a:spLocks noGrp="1"/>
          </p:cNvSpPr>
          <p:nvPr/>
        </p:nvSpPr>
        <p:spPr>
          <a:xfrm>
            <a:off x="11049000" y="952500"/>
            <a:ext cx="0" cy="447675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直接连接符 33">
            <a:extLst>
              <a:ext uri="{FF2B5EF4-FFF2-40B4-BE49-F238E27FC236}">
                <ns2:creationId id="{0600045D-ED96-47D7-A0C6-CE1445B839C6}"/>
              </a:ext>
            </a:extLst>
          </p:cNvPr>
          <p:cNvSpPr>
            <a:spLocks noGrp="1"/>
          </p:cNvSpPr>
          <p:nvPr/>
        </p:nvSpPr>
        <p:spPr>
          <a:xfrm>
            <a:off x="6858000" y="95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直接连接符 34">
            <a:extLst>
              <a:ext uri="{FF2B5EF4-FFF2-40B4-BE49-F238E27FC236}">
                <ns2:creationId id="{0AE70B8C-C520-4A97-9C71-C99B5A59FFFA}"/>
              </a:ext>
            </a:extLst>
          </p:cNvPr>
          <p:cNvSpPr>
            <a:spLocks noGrp="1"/>
          </p:cNvSpPr>
          <p:nvPr/>
        </p:nvSpPr>
        <p:spPr>
          <a:xfrm>
            <a:off x="6858000" y="133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直接连接符 35">
            <a:extLst>
              <a:ext uri="{FF2B5EF4-FFF2-40B4-BE49-F238E27FC236}">
                <ns2:creationId id="{4A2A99A5-9361-4EF1-9CC0-01388B1F5F8E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直接连接符 36">
            <a:extLst>
              <a:ext uri="{FF2B5EF4-FFF2-40B4-BE49-F238E27FC236}">
                <ns2:creationId id="{4B63806F-1A05-4F50-846D-5C932CC95DAF}"/>
              </a:ext>
            </a:extLst>
          </p:cNvPr>
          <p:cNvSpPr>
            <a:spLocks noGrp="1"/>
          </p:cNvSpPr>
          <p:nvPr/>
        </p:nvSpPr>
        <p:spPr>
          <a:xfrm>
            <a:off x="6858000" y="2095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直接连接符 37">
            <a:extLst>
              <a:ext uri="{FF2B5EF4-FFF2-40B4-BE49-F238E27FC236}">
                <ns2:creationId id="{C737E477-6C32-4483-9B95-B8918B4E91BE}"/>
              </a:ext>
            </a:extLst>
          </p:cNvPr>
          <p:cNvSpPr>
            <a:spLocks noGrp="1"/>
          </p:cNvSpPr>
          <p:nvPr/>
        </p:nvSpPr>
        <p:spPr>
          <a:xfrm>
            <a:off x="6858000" y="2476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ns2:creationId id="{E251122E-E7B9-49D2-AEB0-25AFBF1D88F2}"/>
              </a:ext>
            </a:extLst>
          </p:cNvPr>
          <p:cNvSpPr>
            <a:spLocks noGrp="1"/>
          </p:cNvSpPr>
          <p:nvPr/>
        </p:nvSpPr>
        <p:spPr>
          <a:xfrm>
            <a:off x="6858000" y="2857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直接连接符 39">
            <a:extLst>
              <a:ext uri="{FF2B5EF4-FFF2-40B4-BE49-F238E27FC236}">
                <ns2:creationId id="{BC43A34D-AC2F-4985-A548-97F88ACDD045}"/>
              </a:ext>
            </a:extLst>
          </p:cNvPr>
          <p:cNvSpPr>
            <a:spLocks noGrp="1"/>
          </p:cNvSpPr>
          <p:nvPr/>
        </p:nvSpPr>
        <p:spPr>
          <a:xfrm>
            <a:off x="6858000" y="3238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直接连接符 40">
            <a:extLst>
              <a:ext uri="{FF2B5EF4-FFF2-40B4-BE49-F238E27FC236}">
                <ns2:creationId id="{268AB82B-5877-4C6B-B0FC-996A67F8346E}"/>
              </a:ext>
            </a:extLst>
          </p:cNvPr>
          <p:cNvSpPr>
            <a:spLocks noGrp="1"/>
          </p:cNvSpPr>
          <p:nvPr/>
        </p:nvSpPr>
        <p:spPr>
          <a:xfrm>
            <a:off x="6858000" y="3619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直接连接符 41">
            <a:extLst>
              <a:ext uri="{FF2B5EF4-FFF2-40B4-BE49-F238E27FC236}">
                <ns2:creationId id="{199B661D-384E-48EA-BF2F-61869E1FC3BB}"/>
              </a:ext>
            </a:extLst>
          </p:cNvPr>
          <p:cNvSpPr>
            <a:spLocks noGrp="1"/>
          </p:cNvSpPr>
          <p:nvPr/>
        </p:nvSpPr>
        <p:spPr>
          <a:xfrm>
            <a:off x="6858000" y="4000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直接连接符 42">
            <a:extLst>
              <a:ext uri="{FF2B5EF4-FFF2-40B4-BE49-F238E27FC236}">
                <ns2:creationId id="{6B51C3EE-9672-4BB1-8657-E6C01A097EAC}"/>
              </a:ext>
            </a:extLst>
          </p:cNvPr>
          <p:cNvSpPr>
            <a:spLocks noGrp="1"/>
          </p:cNvSpPr>
          <p:nvPr/>
        </p:nvSpPr>
        <p:spPr>
          <a:xfrm>
            <a:off x="6858000" y="438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直接连接符 43">
            <a:extLst>
              <a:ext uri="{FF2B5EF4-FFF2-40B4-BE49-F238E27FC236}">
                <ns2:creationId id="{B90A0243-50D0-45F3-AADB-73DA7E12274E}"/>
              </a:ext>
            </a:extLst>
          </p:cNvPr>
          <p:cNvSpPr>
            <a:spLocks noGrp="1"/>
          </p:cNvSpPr>
          <p:nvPr/>
        </p:nvSpPr>
        <p:spPr>
          <a:xfrm>
            <a:off x="6858000" y="476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直接连接符 44">
            <a:extLst>
              <a:ext uri="{FF2B5EF4-FFF2-40B4-BE49-F238E27FC236}">
                <ns2:creationId id="{ADB054F5-BEB2-4AD0-98DB-EBB557C39457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椭圆 45">
            <a:extLst>
              <a:ext uri="{FF2B5EF4-FFF2-40B4-BE49-F238E27FC236}">
                <ns2:creationId id="{7D11E5BE-CBF4-4F3E-8163-C9A352ACBCCD}"/>
              </a:ext>
            </a:extLst>
          </p:cNvPr>
          <p:cNvSpPr>
            <a:spLocks noGrp="1"/>
          </p:cNvSpPr>
          <p:nvPr/>
        </p:nvSpPr>
        <p:spPr>
          <a:xfrm>
            <a:off x="7077075" y="4886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直接连接符 46">
            <a:extLst>
              <a:ext uri="{FF2B5EF4-FFF2-40B4-BE49-F238E27FC236}">
                <ns2:creationId id="{EC360361-FA19-4387-8199-66A7494DB4F9}"/>
              </a:ext>
            </a:extLst>
          </p:cNvPr>
          <p:cNvSpPr>
            <a:spLocks noGrp="1"/>
          </p:cNvSpPr>
          <p:nvPr/>
        </p:nvSpPr>
        <p:spPr>
          <a:xfrm>
            <a:off x="7143750" y="49530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椭圆 47">
            <a:extLst>
              <a:ext uri="{FF2B5EF4-FFF2-40B4-BE49-F238E27FC236}">
                <ns2:creationId id="{47DE695A-92A3-4DA5-A258-41C91D20F2D6}"/>
              </a:ext>
            </a:extLst>
          </p:cNvPr>
          <p:cNvSpPr>
            <a:spLocks noGrp="1"/>
          </p:cNvSpPr>
          <p:nvPr/>
        </p:nvSpPr>
        <p:spPr>
          <a:xfrm>
            <a:off x="7610475" y="44291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直接连接符 48">
            <a:extLst>
              <a:ext uri="{FF2B5EF4-FFF2-40B4-BE49-F238E27FC236}">
                <ns2:creationId id="{DE0A415D-419B-4F28-9EBB-0F72A15D5009}"/>
              </a:ext>
            </a:extLst>
          </p:cNvPr>
          <p:cNvSpPr>
            <a:spLocks noGrp="1"/>
          </p:cNvSpPr>
          <p:nvPr/>
        </p:nvSpPr>
        <p:spPr>
          <a:xfrm>
            <a:off x="7677150" y="44958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椭圆 49">
            <a:extLst>
              <a:ext uri="{FF2B5EF4-FFF2-40B4-BE49-F238E27FC236}">
                <ns2:creationId id="{3CA1EE4A-E96B-49B0-99B1-C67A5F24AD37}"/>
              </a:ext>
            </a:extLst>
          </p:cNvPr>
          <p:cNvSpPr>
            <a:spLocks noGrp="1"/>
          </p:cNvSpPr>
          <p:nvPr/>
        </p:nvSpPr>
        <p:spPr>
          <a:xfrm>
            <a:off x="8143875" y="39719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直接连接符 50">
            <a:extLst>
              <a:ext uri="{FF2B5EF4-FFF2-40B4-BE49-F238E27FC236}">
                <ns2:creationId id="{8A72BDB5-BA06-4366-BB78-87E8198088B3}"/>
              </a:ext>
            </a:extLst>
          </p:cNvPr>
          <p:cNvSpPr>
            <a:spLocks noGrp="1"/>
          </p:cNvSpPr>
          <p:nvPr/>
        </p:nvSpPr>
        <p:spPr>
          <a:xfrm>
            <a:off x="8210550" y="40386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椭圆 51">
            <a:extLst>
              <a:ext uri="{FF2B5EF4-FFF2-40B4-BE49-F238E27FC236}">
                <ns2:creationId id="{9FBA3A04-5340-4F7E-8FAC-A69EEB2717A5}"/>
              </a:ext>
            </a:extLst>
          </p:cNvPr>
          <p:cNvSpPr>
            <a:spLocks noGrp="1"/>
          </p:cNvSpPr>
          <p:nvPr/>
        </p:nvSpPr>
        <p:spPr>
          <a:xfrm>
            <a:off x="8677275" y="35147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直接连接符 52">
            <a:extLst>
              <a:ext uri="{FF2B5EF4-FFF2-40B4-BE49-F238E27FC236}">
                <ns2:creationId id="{17B069EC-D81E-4E17-8F54-3DAB019F22B7}"/>
              </a:ext>
            </a:extLst>
          </p:cNvPr>
          <p:cNvSpPr>
            <a:spLocks noGrp="1"/>
          </p:cNvSpPr>
          <p:nvPr/>
        </p:nvSpPr>
        <p:spPr>
          <a:xfrm>
            <a:off x="8743950" y="35814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椭圆 53">
            <a:extLst>
              <a:ext uri="{FF2B5EF4-FFF2-40B4-BE49-F238E27FC236}">
                <ns2:creationId id="{53783444-CB1C-48BA-8A99-313D7ACA0F76}"/>
              </a:ext>
            </a:extLst>
          </p:cNvPr>
          <p:cNvSpPr>
            <a:spLocks noGrp="1"/>
          </p:cNvSpPr>
          <p:nvPr/>
        </p:nvSpPr>
        <p:spPr>
          <a:xfrm>
            <a:off x="9210675" y="30575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直接连接符 54">
            <a:extLst>
              <a:ext uri="{FF2B5EF4-FFF2-40B4-BE49-F238E27FC236}">
                <ns2:creationId id="{FC5CD519-9BB7-49DC-8EF5-2FE0B7A0B3FB}"/>
              </a:ext>
            </a:extLst>
          </p:cNvPr>
          <p:cNvSpPr>
            <a:spLocks noGrp="1"/>
          </p:cNvSpPr>
          <p:nvPr/>
        </p:nvSpPr>
        <p:spPr>
          <a:xfrm>
            <a:off x="9277350" y="31242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椭圆 55">
            <a:extLst>
              <a:ext uri="{FF2B5EF4-FFF2-40B4-BE49-F238E27FC236}">
                <ns2:creationId id="{AFA9573B-4FCE-4331-8595-B7B6312F7690}"/>
              </a:ext>
            </a:extLst>
          </p:cNvPr>
          <p:cNvSpPr>
            <a:spLocks noGrp="1"/>
          </p:cNvSpPr>
          <p:nvPr/>
        </p:nvSpPr>
        <p:spPr>
          <a:xfrm>
            <a:off x="9744075" y="2600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直接连接符 56">
            <a:extLst>
              <a:ext uri="{FF2B5EF4-FFF2-40B4-BE49-F238E27FC236}">
                <ns2:creationId id="{83D991EF-CE12-43AC-AFA0-4B555E117F88}"/>
              </a:ext>
            </a:extLst>
          </p:cNvPr>
          <p:cNvSpPr>
            <a:spLocks noGrp="1"/>
          </p:cNvSpPr>
          <p:nvPr/>
        </p:nvSpPr>
        <p:spPr>
          <a:xfrm>
            <a:off x="9810750" y="26670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椭圆 57">
            <a:extLst>
              <a:ext uri="{FF2B5EF4-FFF2-40B4-BE49-F238E27FC236}">
                <ns2:creationId id="{194ADCD8-C942-4A56-87CE-3C05F54E1AEE}"/>
              </a:ext>
            </a:extLst>
          </p:cNvPr>
          <p:cNvSpPr>
            <a:spLocks noGrp="1"/>
          </p:cNvSpPr>
          <p:nvPr/>
        </p:nvSpPr>
        <p:spPr>
          <a:xfrm>
            <a:off x="10277475" y="21431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直接连接符 58">
            <a:extLst>
              <a:ext uri="{FF2B5EF4-FFF2-40B4-BE49-F238E27FC236}">
                <ns2:creationId id="{C5A9A178-8AD8-466C-B5CE-99558FF96479}"/>
              </a:ext>
            </a:extLst>
          </p:cNvPr>
          <p:cNvSpPr>
            <a:spLocks noGrp="1"/>
          </p:cNvSpPr>
          <p:nvPr/>
        </p:nvSpPr>
        <p:spPr>
          <a:xfrm>
            <a:off x="10344150" y="2209800"/>
            <a:ext cx="533400" cy="0"/>
          </a:xfrm>
          <a:prstGeom prst="line">
            <a:avLst/>
          </a:prstGeom>
          <a:noFill/>
          <a:ln w="19050">
            <a:solidFill>
              <a:srgbClr val="17A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椭圆 59">
            <a:extLst>
              <a:ext uri="{FF2B5EF4-FFF2-40B4-BE49-F238E27FC236}">
                <ns2:creationId id="{A2AC22D8-1ACD-4BCD-B8DD-078627A0EA4C}"/>
              </a:ext>
            </a:extLst>
          </p:cNvPr>
          <p:cNvSpPr>
            <a:spLocks noGrp="1"/>
          </p:cNvSpPr>
          <p:nvPr/>
        </p:nvSpPr>
        <p:spPr>
          <a:xfrm>
            <a:off x="10810875" y="168592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矩形: 圆角 60">
            <a:extLst>
              <a:ext uri="{FF2B5EF4-FFF2-40B4-BE49-F238E27FC236}">
                <ns2:creationId id="{28E2BAE6-8C97-4F62-BCFA-926E5C14555A}"/>
              </a:ext>
            </a:extLst>
          </p:cNvPr>
          <p:cNvSpPr>
            <a:spLocks noGrp="1"/>
          </p:cNvSpPr>
          <p:nvPr/>
        </p:nvSpPr>
        <p:spPr>
          <a:xfrm>
            <a:off x="8715375" y="4714875"/>
            <a:ext cx="904875" cy="666750"/>
          </a:xfrm>
          <a:prstGeom prst="roundRect">
            <a:avLst>
              <a:gd name="adj" fmla="val 11429"/>
            </a:avLst>
          </a:prstGeom>
          <a:solidFill>
            <a:srgbClr val="FFFEFB"/>
          </a:solidFill>
          <a:ln w="9525">
            <a:solidFill>
              <a:srgbClr val="9A9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矩形 61">
            <a:extLst>
              <a:ext uri="{FF2B5EF4-FFF2-40B4-BE49-F238E27FC236}">
                <ns2:creationId id="{340EE32A-CB4C-40C2-A8B1-603AADBC9437}"/>
              </a:ext>
            </a:extLst>
          </p:cNvPr>
          <p:cNvSpPr>
            <a:spLocks noGrp="1"/>
          </p:cNvSpPr>
          <p:nvPr/>
        </p:nvSpPr>
        <p:spPr>
          <a:xfrm>
            <a:off x="8715375" y="4714875"/>
            <a:ext cx="904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9A9A96"/>
                </a:solidFill>
              </a:defRPr>
            </a:pPr>
            <a:r>
              <a:rPr sz="975" b="1">
                <a:solidFill>
                  <a:srgbClr val="9A9A96"/>
                </a:solidFill>
              </a:rPr>
              <a:t>ROBOT</a:t>
            </a:r>
          </a:p>
        </p:txBody>
      </p:sp>
    </p:spTree>
    <p:extLst>
      <p:ext uri="{BB962C8B-B14F-4D97-AF65-F5344CB8AC3E}">
        <ns3:creationId val="1225841207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直接连接符 43">
            <a:extLst>
              <a:ext uri="{FF2B5EF4-FFF2-40B4-BE49-F238E27FC236}">
                <ns2:creationId id="{259CE98C-3150-4B23-8F1E-723961F62BA9}"/>
              </a:ext>
            </a:extLst>
          </p:cNvPr>
          <p:cNvSpPr>
            <a:spLocks noGrp="1"/>
          </p:cNvSpPr>
          <p:nvPr/>
        </p:nvSpPr>
        <p:spPr>
          <a:xfrm>
            <a:off x="7143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直接连接符 1">
            <a:extLst>
              <a:ext uri="{FF2B5EF4-FFF2-40B4-BE49-F238E27FC236}">
                <ns2:creationId id="{235347DC-0182-46FE-BADF-3671AABDB530}"/>
              </a:ext>
            </a:extLst>
          </p:cNvPr>
          <p:cNvSpPr>
            <a:spLocks noGrp="1"/>
          </p:cNvSpPr>
          <p:nvPr/>
        </p:nvSpPr>
        <p:spPr>
          <a:xfrm>
            <a:off x="7524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直接连接符 2">
            <a:extLst>
              <a:ext uri="{FF2B5EF4-FFF2-40B4-BE49-F238E27FC236}">
                <ns2:creationId id="{C37C75E5-5A9C-4B3B-B316-79C2549802D3}"/>
              </a:ext>
            </a:extLst>
          </p:cNvPr>
          <p:cNvSpPr>
            <a:spLocks noGrp="1"/>
          </p:cNvSpPr>
          <p:nvPr/>
        </p:nvSpPr>
        <p:spPr>
          <a:xfrm>
            <a:off x="7905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直接连接符 3">
            <a:extLst>
              <a:ext uri="{FF2B5EF4-FFF2-40B4-BE49-F238E27FC236}">
                <ns2:creationId id="{AAA7D866-4246-48BD-BC36-73041FC3B2F3}"/>
              </a:ext>
            </a:extLst>
          </p:cNvPr>
          <p:cNvSpPr>
            <a:spLocks noGrp="1"/>
          </p:cNvSpPr>
          <p:nvPr/>
        </p:nvSpPr>
        <p:spPr>
          <a:xfrm>
            <a:off x="8286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直接连接符 4">
            <a:extLst>
              <a:ext uri="{FF2B5EF4-FFF2-40B4-BE49-F238E27FC236}">
                <ns2:creationId id="{57AE1AC5-B066-4ABA-A2D1-6AF9D283AEB1}"/>
              </a:ext>
            </a:extLst>
          </p:cNvPr>
          <p:cNvSpPr>
            <a:spLocks noGrp="1"/>
          </p:cNvSpPr>
          <p:nvPr/>
        </p:nvSpPr>
        <p:spPr>
          <a:xfrm>
            <a:off x="8667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ns2:creationId id="{F095B875-41EF-43F1-BCDF-F577AB239C13}"/>
              </a:ext>
            </a:extLst>
          </p:cNvPr>
          <p:cNvSpPr>
            <a:spLocks noGrp="1"/>
          </p:cNvSpPr>
          <p:nvPr/>
        </p:nvSpPr>
        <p:spPr>
          <a:xfrm>
            <a:off x="9048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直接连接符 6">
            <a:extLst>
              <a:ext uri="{FF2B5EF4-FFF2-40B4-BE49-F238E27FC236}">
                <ns2:creationId id="{DA8E3EA3-31FC-4B22-96EE-5CA7D85D7CC7}"/>
              </a:ext>
            </a:extLst>
          </p:cNvPr>
          <p:cNvSpPr>
            <a:spLocks noGrp="1"/>
          </p:cNvSpPr>
          <p:nvPr/>
        </p:nvSpPr>
        <p:spPr>
          <a:xfrm>
            <a:off x="9429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直接连接符 7">
            <a:extLst>
              <a:ext uri="{FF2B5EF4-FFF2-40B4-BE49-F238E27FC236}">
                <ns2:creationId id="{955AF707-58D5-4103-B509-2B9633E3F453}"/>
              </a:ext>
            </a:extLst>
          </p:cNvPr>
          <p:cNvSpPr>
            <a:spLocks noGrp="1"/>
          </p:cNvSpPr>
          <p:nvPr/>
        </p:nvSpPr>
        <p:spPr>
          <a:xfrm>
            <a:off x="9810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直接连接符 8">
            <a:extLst>
              <a:ext uri="{FF2B5EF4-FFF2-40B4-BE49-F238E27FC236}">
                <ns2:creationId id="{76F64BA4-758F-470D-B01A-B53570EB4AC4}"/>
              </a:ext>
            </a:extLst>
          </p:cNvPr>
          <p:cNvSpPr>
            <a:spLocks noGrp="1"/>
          </p:cNvSpPr>
          <p:nvPr/>
        </p:nvSpPr>
        <p:spPr>
          <a:xfrm>
            <a:off x="10191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直接连接符 9">
            <a:extLst>
              <a:ext uri="{FF2B5EF4-FFF2-40B4-BE49-F238E27FC236}">
                <ns2:creationId id="{A57CEFE5-92B6-4031-9F48-DD396A57402D}"/>
              </a:ext>
            </a:extLst>
          </p:cNvPr>
          <p:cNvSpPr>
            <a:spLocks noGrp="1"/>
          </p:cNvSpPr>
          <p:nvPr/>
        </p:nvSpPr>
        <p:spPr>
          <a:xfrm>
            <a:off x="10572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直接连接符 10">
            <a:extLst>
              <a:ext uri="{FF2B5EF4-FFF2-40B4-BE49-F238E27FC236}">
                <ns2:creationId id="{35167152-25B6-4248-B269-0A7447CE73F5}"/>
              </a:ext>
            </a:extLst>
          </p:cNvPr>
          <p:cNvSpPr>
            <a:spLocks noGrp="1"/>
          </p:cNvSpPr>
          <p:nvPr/>
        </p:nvSpPr>
        <p:spPr>
          <a:xfrm>
            <a:off x="10953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直接连接符 11">
            <a:extLst>
              <a:ext uri="{FF2B5EF4-FFF2-40B4-BE49-F238E27FC236}">
                <ns2:creationId id="{789DB5D9-1028-4759-A9DF-19CF0DFCAD73}"/>
              </a:ext>
            </a:extLst>
          </p:cNvPr>
          <p:cNvSpPr>
            <a:spLocks noGrp="1"/>
          </p:cNvSpPr>
          <p:nvPr/>
        </p:nvSpPr>
        <p:spPr>
          <a:xfrm>
            <a:off x="11334750" y="571500"/>
            <a:ext cx="0" cy="495300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直接连接符 12">
            <a:extLst>
              <a:ext uri="{FF2B5EF4-FFF2-40B4-BE49-F238E27FC236}">
                <ns2:creationId id="{8742075A-20F0-4FC6-9B6C-8E9FCAF0D275}"/>
              </a:ext>
            </a:extLst>
          </p:cNvPr>
          <p:cNvSpPr>
            <a:spLocks noGrp="1"/>
          </p:cNvSpPr>
          <p:nvPr/>
        </p:nvSpPr>
        <p:spPr>
          <a:xfrm>
            <a:off x="7143750" y="57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直接连接符 13">
            <a:extLst>
              <a:ext uri="{FF2B5EF4-FFF2-40B4-BE49-F238E27FC236}">
                <ns2:creationId id="{DB75C43E-B572-4ECB-8ED8-AC1ED9A398A9}"/>
              </a:ext>
            </a:extLst>
          </p:cNvPr>
          <p:cNvSpPr>
            <a:spLocks noGrp="1"/>
          </p:cNvSpPr>
          <p:nvPr/>
        </p:nvSpPr>
        <p:spPr>
          <a:xfrm>
            <a:off x="7143750" y="95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直接连接符 14">
            <a:extLst>
              <a:ext uri="{FF2B5EF4-FFF2-40B4-BE49-F238E27FC236}">
                <ns2:creationId id="{A20E964D-67F8-400A-860F-03DCE8E84EC7}"/>
              </a:ext>
            </a:extLst>
          </p:cNvPr>
          <p:cNvSpPr>
            <a:spLocks noGrp="1"/>
          </p:cNvSpPr>
          <p:nvPr/>
        </p:nvSpPr>
        <p:spPr>
          <a:xfrm>
            <a:off x="7143750" y="133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直接连接符 15">
            <a:extLst>
              <a:ext uri="{FF2B5EF4-FFF2-40B4-BE49-F238E27FC236}">
                <ns2:creationId id="{D2521AA8-EDE4-4950-992A-D7021F25F18C}"/>
              </a:ext>
            </a:extLst>
          </p:cNvPr>
          <p:cNvSpPr>
            <a:spLocks noGrp="1"/>
          </p:cNvSpPr>
          <p:nvPr/>
        </p:nvSpPr>
        <p:spPr>
          <a:xfrm>
            <a:off x="7143750" y="171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直接连接符 16">
            <a:extLst>
              <a:ext uri="{FF2B5EF4-FFF2-40B4-BE49-F238E27FC236}">
                <ns2:creationId id="{7FEA0A37-F85A-4784-B62F-D959B6B9987D}"/>
              </a:ext>
            </a:extLst>
          </p:cNvPr>
          <p:cNvSpPr>
            <a:spLocks noGrp="1"/>
          </p:cNvSpPr>
          <p:nvPr/>
        </p:nvSpPr>
        <p:spPr>
          <a:xfrm>
            <a:off x="7143750" y="2095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直接连接符 17">
            <a:extLst>
              <a:ext uri="{FF2B5EF4-FFF2-40B4-BE49-F238E27FC236}">
                <ns2:creationId id="{2F891C02-0864-418D-9311-E945F7AAC581}"/>
              </a:ext>
            </a:extLst>
          </p:cNvPr>
          <p:cNvSpPr>
            <a:spLocks noGrp="1"/>
          </p:cNvSpPr>
          <p:nvPr/>
        </p:nvSpPr>
        <p:spPr>
          <a:xfrm>
            <a:off x="7143750" y="2476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直接连接符 18">
            <a:extLst>
              <a:ext uri="{FF2B5EF4-FFF2-40B4-BE49-F238E27FC236}">
                <ns2:creationId id="{588DD0C1-0913-4556-A21B-FB7D7F207DC7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直接连接符 19">
            <a:extLst>
              <a:ext uri="{FF2B5EF4-FFF2-40B4-BE49-F238E27FC236}">
                <ns2:creationId id="{E078DD73-221F-42DB-9E16-FE74AC3E6108}"/>
              </a:ext>
            </a:extLst>
          </p:cNvPr>
          <p:cNvSpPr>
            <a:spLocks noGrp="1"/>
          </p:cNvSpPr>
          <p:nvPr/>
        </p:nvSpPr>
        <p:spPr>
          <a:xfrm>
            <a:off x="7143750" y="3238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直接连接符 20">
            <a:extLst>
              <a:ext uri="{FF2B5EF4-FFF2-40B4-BE49-F238E27FC236}">
                <ns2:creationId id="{7E72AB71-37F4-48BA-BEF8-48E510485561}"/>
              </a:ext>
            </a:extLst>
          </p:cNvPr>
          <p:cNvSpPr>
            <a:spLocks noGrp="1"/>
          </p:cNvSpPr>
          <p:nvPr/>
        </p:nvSpPr>
        <p:spPr>
          <a:xfrm>
            <a:off x="7143750" y="3619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直接连接符 21">
            <a:extLst>
              <a:ext uri="{FF2B5EF4-FFF2-40B4-BE49-F238E27FC236}">
                <ns2:creationId id="{15B26909-B70C-44F0-A4EF-43D547789680}"/>
              </a:ext>
            </a:extLst>
          </p:cNvPr>
          <p:cNvSpPr>
            <a:spLocks noGrp="1"/>
          </p:cNvSpPr>
          <p:nvPr/>
        </p:nvSpPr>
        <p:spPr>
          <a:xfrm>
            <a:off x="7143750" y="4000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直接连接符 22">
            <a:extLst>
              <a:ext uri="{FF2B5EF4-FFF2-40B4-BE49-F238E27FC236}">
                <ns2:creationId id="{F9BE7F08-CFC2-40EC-AFF0-E5C5B7D56AE6}"/>
              </a:ext>
            </a:extLst>
          </p:cNvPr>
          <p:cNvSpPr>
            <a:spLocks noGrp="1"/>
          </p:cNvSpPr>
          <p:nvPr/>
        </p:nvSpPr>
        <p:spPr>
          <a:xfrm>
            <a:off x="7143750" y="4381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直接连接符 23">
            <a:extLst>
              <a:ext uri="{FF2B5EF4-FFF2-40B4-BE49-F238E27FC236}">
                <ns2:creationId id="{1C0EC28A-FFE2-44BE-B39B-D9C9B6F5E337}"/>
              </a:ext>
            </a:extLst>
          </p:cNvPr>
          <p:cNvSpPr>
            <a:spLocks noGrp="1"/>
          </p:cNvSpPr>
          <p:nvPr/>
        </p:nvSpPr>
        <p:spPr>
          <a:xfrm>
            <a:off x="7143750" y="4762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直接连接符 24">
            <a:extLst>
              <a:ext uri="{FF2B5EF4-FFF2-40B4-BE49-F238E27FC236}">
                <ns2:creationId id="{FAE85FEE-E168-4AA6-ACB9-8781AAB0B667}"/>
              </a:ext>
            </a:extLst>
          </p:cNvPr>
          <p:cNvSpPr>
            <a:spLocks noGrp="1"/>
          </p:cNvSpPr>
          <p:nvPr/>
        </p:nvSpPr>
        <p:spPr>
          <a:xfrm>
            <a:off x="7143750" y="5143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直接连接符 25">
            <a:extLst>
              <a:ext uri="{FF2B5EF4-FFF2-40B4-BE49-F238E27FC236}">
                <ns2:creationId id="{6B5EB505-E176-4916-BEB8-4AFD160F5A7A}"/>
              </a:ext>
            </a:extLst>
          </p:cNvPr>
          <p:cNvSpPr>
            <a:spLocks noGrp="1"/>
          </p:cNvSpPr>
          <p:nvPr/>
        </p:nvSpPr>
        <p:spPr>
          <a:xfrm>
            <a:off x="7143750" y="5524500"/>
            <a:ext cx="4476750" cy="0"/>
          </a:xfrm>
          <a:prstGeom prst="line">
            <a:avLst/>
          </a:prstGeom>
          <a:noFill/>
          <a:ln w="4763">
            <a:solidFill>
              <a:srgbClr val="E8E4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矩形 26">
            <a:extLst>
              <a:ext uri="{FF2B5EF4-FFF2-40B4-BE49-F238E27FC236}">
                <ns2:creationId id="{15F0BBAA-3AE1-4538-9CE3-5AF0D65927B3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6191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125" b="0">
                <a:solidFill>
                  <a:srgbClr val="A51C30"/>
                </a:solidFill>
              </a:defRPr>
            </a:pPr>
            <a:r>
              <a:rPr sz="4125" b="0">
                <a:solidFill>
                  <a:srgbClr val="A51C30"/>
                </a:solidFill>
              </a:rPr>
              <a:t>Questions?</a:t>
            </a:r>
          </a:p>
        </p:txBody>
      </p:sp>
      <p:sp>
        <p:nvSpPr>
          <p:cNvPr id="28" name="矩形 27">
            <a:extLst>
              <a:ext uri="{FF2B5EF4-FFF2-40B4-BE49-F238E27FC236}">
                <ns2:creationId id="{881EA46D-EAC1-41EA-A337-73E5BD100D30}"/>
              </a:ext>
            </a:extLst>
          </p:cNvPr>
          <p:cNvSpPr>
            <a:spLocks noGrp="1"/>
          </p:cNvSpPr>
          <p:nvPr/>
        </p:nvSpPr>
        <p:spPr>
          <a:xfrm>
            <a:off x="552450" y="265747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Main next test: MovieChat memory as readable context tokens for action policies.</a:t>
            </a:r>
          </a:p>
        </p:txBody>
      </p:sp>
      <p:sp>
        <p:nvSpPr>
          <p:cNvPr id="29" name="直接连接符 28">
            <a:extLst>
              <a:ext uri="{FF2B5EF4-FFF2-40B4-BE49-F238E27FC236}">
                <ns2:creationId id="{49210B55-4BE6-4248-B63D-FB5B8EB765CA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143000" cy="0"/>
          </a:xfrm>
          <a:prstGeom prst="line">
            <a:avLst/>
          </a:prstGeom>
          <a:noFill/>
          <a:ln w="28575">
            <a:solidFill>
              <a:srgbClr val="A51C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矩形 29">
            <a:extLst>
              <a:ext uri="{FF2B5EF4-FFF2-40B4-BE49-F238E27FC236}">
                <ns2:creationId id="{6EDACA34-2A09-4902-8E10-74C84DD91F3F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B6B68"/>
                </a:solidFill>
              </a:defRPr>
            </a:pPr>
            <a:r>
              <a:rPr sz="1125" b="0">
                <a:solidFill>
                  <a:srgbClr val="6B6B68"/>
                </a:solidFill>
              </a:rPr>
              <a:t>Wenfei Yu  ·  Harvard Robotics  ·  RoboMME / OpenPI memory project</a:t>
            </a:r>
          </a:p>
        </p:txBody>
      </p:sp>
      <p:sp>
        <p:nvSpPr>
          <p:cNvPr id="31" name="椭圆 30">
            <a:extLst>
              <a:ext uri="{FF2B5EF4-FFF2-40B4-BE49-F238E27FC236}">
                <ns2:creationId id="{41D17B78-6269-4907-9700-AD00767C86B1}"/>
              </a:ext>
            </a:extLst>
          </p:cNvPr>
          <p:cNvSpPr>
            <a:spLocks noGrp="1"/>
          </p:cNvSpPr>
          <p:nvPr/>
        </p:nvSpPr>
        <p:spPr>
          <a:xfrm>
            <a:off x="7362825" y="469582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椭圆 31">
            <a:extLst>
              <a:ext uri="{FF2B5EF4-FFF2-40B4-BE49-F238E27FC236}">
                <ns2:creationId id="{BC991342-608D-4407-A220-387612A66FF7}"/>
              </a:ext>
            </a:extLst>
          </p:cNvPr>
          <p:cNvSpPr>
            <a:spLocks noGrp="1"/>
          </p:cNvSpPr>
          <p:nvPr/>
        </p:nvSpPr>
        <p:spPr>
          <a:xfrm>
            <a:off x="7839075" y="426720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椭圆 32">
            <a:extLst>
              <a:ext uri="{FF2B5EF4-FFF2-40B4-BE49-F238E27FC236}">
                <ns2:creationId id="{56B5A415-06D6-449D-887C-FFEB7ACD8969}"/>
              </a:ext>
            </a:extLst>
          </p:cNvPr>
          <p:cNvSpPr>
            <a:spLocks noGrp="1"/>
          </p:cNvSpPr>
          <p:nvPr/>
        </p:nvSpPr>
        <p:spPr>
          <a:xfrm>
            <a:off x="8315325" y="383857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椭圆 33">
            <a:extLst>
              <a:ext uri="{FF2B5EF4-FFF2-40B4-BE49-F238E27FC236}">
                <ns2:creationId id="{58CCEF85-00E9-4882-9039-0B4D191F3C12}"/>
              </a:ext>
            </a:extLst>
          </p:cNvPr>
          <p:cNvSpPr>
            <a:spLocks noGrp="1"/>
          </p:cNvSpPr>
          <p:nvPr/>
        </p:nvSpPr>
        <p:spPr>
          <a:xfrm>
            <a:off x="8791575" y="3409950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椭圆 34">
            <a:extLst>
              <a:ext uri="{FF2B5EF4-FFF2-40B4-BE49-F238E27FC236}">
                <ns2:creationId id="{4E9BAB1E-0FD4-4E04-8370-868D9F758F5B}"/>
              </a:ext>
            </a:extLst>
          </p:cNvPr>
          <p:cNvSpPr>
            <a:spLocks noGrp="1"/>
          </p:cNvSpPr>
          <p:nvPr/>
        </p:nvSpPr>
        <p:spPr>
          <a:xfrm>
            <a:off x="9267825" y="2981325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椭圆 35">
            <a:extLst>
              <a:ext uri="{FF2B5EF4-FFF2-40B4-BE49-F238E27FC236}">
                <ns2:creationId id="{B61B8EB3-F379-4649-91D5-206E5733FF74}"/>
              </a:ext>
            </a:extLst>
          </p:cNvPr>
          <p:cNvSpPr>
            <a:spLocks noGrp="1"/>
          </p:cNvSpPr>
          <p:nvPr/>
        </p:nvSpPr>
        <p:spPr>
          <a:xfrm>
            <a:off x="9744075" y="255270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椭圆 36">
            <a:extLst>
              <a:ext uri="{FF2B5EF4-FFF2-40B4-BE49-F238E27FC236}">
                <ns2:creationId id="{54832DA6-D78C-4649-A0F0-E1142E3AA355}"/>
              </a:ext>
            </a:extLst>
          </p:cNvPr>
          <p:cNvSpPr>
            <a:spLocks noGrp="1"/>
          </p:cNvSpPr>
          <p:nvPr/>
        </p:nvSpPr>
        <p:spPr>
          <a:xfrm>
            <a:off x="10220325" y="2124075"/>
            <a:ext cx="133350" cy="133350"/>
          </a:xfrm>
          <a:prstGeom prst="ellipse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椭圆 37">
            <a:extLst>
              <a:ext uri="{FF2B5EF4-FFF2-40B4-BE49-F238E27FC236}">
                <ns2:creationId id="{496C5ACC-D5D5-4358-A2A1-84B6C530FC9E}"/>
              </a:ext>
            </a:extLst>
          </p:cNvPr>
          <p:cNvSpPr>
            <a:spLocks noGrp="1"/>
          </p:cNvSpPr>
          <p:nvPr/>
        </p:nvSpPr>
        <p:spPr>
          <a:xfrm>
            <a:off x="10696575" y="1695450"/>
            <a:ext cx="133350" cy="133350"/>
          </a:xfrm>
          <a:prstGeom prst="ellipse">
            <a:avLst/>
          </a:prstGeom>
          <a:solidFill>
            <a:srgbClr val="17A7B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直接连接符 38">
            <a:extLst>
              <a:ext uri="{FF2B5EF4-FFF2-40B4-BE49-F238E27FC236}">
                <ns2:creationId id="{E4057DEA-FE56-4D3C-AED0-44B8BBF181A4}"/>
              </a:ext>
            </a:extLst>
          </p:cNvPr>
          <p:cNvSpPr>
            <a:spLocks noGrp="1"/>
          </p:cNvSpPr>
          <p:nvPr/>
        </p:nvSpPr>
        <p:spPr>
          <a:xfrm>
            <a:off x="400050" y="6286500"/>
            <a:ext cx="11391900" cy="0"/>
          </a:xfrm>
          <a:prstGeom prst="line">
            <a:avLst/>
          </a:prstGeom>
          <a:noFill/>
          <a:ln w="9525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矩形 39">
            <a:extLst>
              <a:ext uri="{FF2B5EF4-FFF2-40B4-BE49-F238E27FC236}">
                <ns2:creationId id="{0F938E9D-31D8-43CF-9DE6-0CBE5B18D793}"/>
              </a:ext>
            </a:extLst>
          </p:cNvPr>
          <p:cNvSpPr>
            <a:spLocks noGrp="1"/>
          </p:cNvSpPr>
          <p:nvPr/>
        </p:nvSpPr>
        <p:spPr>
          <a:xfrm>
            <a:off x="400050" y="6362700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1">
                <a:solidFill>
                  <a:srgbClr val="171717"/>
                </a:solidFill>
              </a:defRPr>
            </a:pPr>
            <a:r>
              <a:rPr sz="750" b="1">
                <a:solidFill>
                  <a:srgbClr val="171717"/>
                </a:solidFill>
              </a:rPr>
              <a:t>HARVARD ROBOTICS</a:t>
            </a:r>
          </a:p>
        </p:txBody>
      </p:sp>
      <p:sp>
        <p:nvSpPr>
          <p:cNvPr id="41" name="矩形 40">
            <a:extLst>
              <a:ext uri="{FF2B5EF4-FFF2-40B4-BE49-F238E27FC236}">
                <ns2:creationId id="{01C88AC0-0719-424D-BF02-7058968FE030}"/>
              </a:ext>
            </a:extLst>
          </p:cNvPr>
          <p:cNvSpPr>
            <a:spLocks noGrp="1"/>
          </p:cNvSpPr>
          <p:nvPr/>
        </p:nvSpPr>
        <p:spPr>
          <a:xfrm>
            <a:off x="2095500" y="63627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6B6B68"/>
                </a:solidFill>
              </a:defRPr>
            </a:pPr>
            <a:r>
              <a:rPr sz="750" b="0">
                <a:solidFill>
                  <a:srgbClr val="6B6B68"/>
                </a:solidFill>
              </a:rPr>
              <a:t>RESEARCH PRESENTATION  ·  2026</a:t>
            </a:r>
          </a:p>
        </p:txBody>
      </p:sp>
      <p:sp>
        <p:nvSpPr>
          <p:cNvPr id="42" name="矩形 41">
            <a:extLst>
              <a:ext uri="{FF2B5EF4-FFF2-40B4-BE49-F238E27FC236}">
                <ns2:creationId id="{296B684D-E7B9-4BCC-B9D3-CE66AC1759C2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solidFill>
            <a:srgbClr val="A51C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矩形 42">
            <a:extLst>
              <a:ext uri="{FF2B5EF4-FFF2-40B4-BE49-F238E27FC236}">
                <ns2:creationId id="{2C83A30D-CAF9-4892-9B64-916F33E5C6C6}"/>
              </a:ext>
            </a:extLst>
          </p:cNvPr>
          <p:cNvSpPr>
            <a:spLocks noGrp="1"/>
          </p:cNvSpPr>
          <p:nvPr/>
        </p:nvSpPr>
        <p:spPr>
          <a:xfrm>
            <a:off x="11353800" y="6286500"/>
            <a:ext cx="438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ns3:creationId val="6318849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DocSecurity>0</DocSecurity>
  <PresentationFormat>宽屏</PresentationFormat>
  <Paragraphs>180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Wu, Feiyang</cp:lastModifiedBy>
  <cp:revision>1</cp:revision>
  <dcterms:created xsi:type="dcterms:W3CDTF">2026-07-12T22:00:53Z</dcterms:created>
  <dcterms:modified xsi:type="dcterms:W3CDTF">2026-07-12T22:03:37Z</dcterms:modified>
</cp:coreProperties>
</file>